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A1F60171-437D-1B3E-F1F3-DD438D73E03E}">
          <p14:sldIdLst>
            <p14:sldId id="256"/>
            <p14:sldId id="257"/>
          </p14:sldIdLst>
        </p14:section>
        <p14:section name="Features and limitations" id="{1312B4FE-47D2-188C-1373-5EDE2346E9C7}">
          <p14:sldIdLst>
            <p14:sldId id="258"/>
            <p14:sldId id="259"/>
            <p14:sldId id="260"/>
            <p14:sldId id="261"/>
            <p14:sldId id="262"/>
          </p14:sldIdLst>
        </p14:section>
        <p14:section name="Licensing" id="{DCD8BE1C-54CA-9248-2F8D-BD6EDA7A94DB}">
          <p14:sldIdLst>
            <p14:sldId id="263"/>
            <p14:sldId id="264"/>
            <p14:sldId id="265"/>
            <p14:sldId id="266"/>
          </p14:sldIdLst>
        </p14:section>
        <p14:section name="POC demo" id="{70F6DF95-8D23-09DE-3813-1DC18FB66966}">
          <p14:sldIdLst>
            <p14:sldId id="267"/>
            <p14:sldId id="268"/>
            <p14:sldId id="269"/>
            <p14:sldId id="270"/>
            <p14:sldId id="271"/>
          </p14:sldIdLst>
        </p14:section>
        <p14:section name="Setup" id="{70CC277F-B742-11ED-EE0A-3A558930F8EE}">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10"/>
  </p:normalViewPr>
  <p:slideViewPr>
    <p:cSldViewPr snapToGrid="0" snapToObjects="1">
      <p:cViewPr varScale="1">
        <p:scale>
          <a:sx n="120" d="100"/>
          <a:sy n="120" d="100"/>
        </p:scale>
        <p:origin x="1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624061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afternoon everyone, and thanks for joining. Over the last few weeks I've been running a POC on KNIME, a data preparation and automation tool, as part of our evaluation against Alteryx. Today I'll keep it practical. I'll show you what KNIME can do and where it falls short, what it costs, the workflow I built running live, and how you can install it on your own laptop. Please stop me any time with questions.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We'll go through four parts. First, features, capabilities and limitations. Second, open source and licensing, so what's free and what's paid. Third, a live demo of the POC. And finally, how to set it up on your machine. Each part is about eight to ten minutes, and we'll keep time for questions at the end.</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Let's start with what KNIME actually is and what it can do.</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simplest way to explain KNIME is this. Think of any Excel process you repeat every month: copy-paste from a few files, VLOOKUPs, filters, a pivot at the end. In KNIME, each of those steps becomes a box called a node. You connect the nodes left to right, and that picture becomes your process. Once it's built, next month you just point it at the new file and press Execute. Most of this needs no coding. It runs on your desktop, so the data stays on your laptop.</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six things KNIME does well.
- Connect: it reads almost anything, including Excel, CSV, databases and cloud storage.
- Clean: removing duplicates, fixing date formats, handling blanks, which is what many of us do by hand today.
- Join and reconcile: matching two sources and showing what doesn't tie. For us, that's probably the most relevant one.
- Summarise: group, pivot and write the result back to Excel.
- Code when needed: if you know Python or SQL you can drop it in, but you don't have to.
- K-AI, a built-in AI assistant. One caution here: it sends prompts to an external AI service, so we'd need to check policy before using it with client data.</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does this mean for Tax? These are candidate use cases. I haven't built them yet, and I'd really like your input on which one hurts most today.
- GST or TDS reconciliation: matching our books against GSTR-2B or 26AS and listing the mismatches.
- Consolidating Excel files from multiple entities into one table.
- Cleaning GSTINs, PANs and vendor names before analysis.
- Tying out ledgers to returns.
- Month-end repeatability: the same steps every month on new files.
The last point is the audit trail. The workflow itself shows exactly what was done to the data, which is much clearer than a heavily edited spreadsheet.</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be balanced, here's what you'll notice when you actually use it.
- Learning curve: there are thousands of nodes, often several that do nearly the same thing, so beginners spend time finding the right one.
- Formula syntax: different nodes use different formula styles. In my POC, a simple "if the date is in this format, convert it" needed three nodes, where Alteryx does it in one formula.
- Memory: it's a Java application, and on large files you need to raise its memory setting.
- Scheduling: the free version only runs when you press the button. Automatic scheduled runs need the paid Hub.
- Interface: it's a little less polished than Alteryx.
- Governance: on desktop, workflows sit on individual laptops, so version control is our responsibility.</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question everyone asks: what does it cost?</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good news is that the desktop tool is completely free. It's not a trial or a cut-down version. There's no licence fee, no user limit, no expiry, and no limit on data size. It's open source under the GPLv3 licence, which allows commercial use. KNIME makes its money from an optional server product called KNIME Hub, not from the desktop tool. One caveat: even though it's free, we still need IT approval to install it on firm laptops.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full picture. The top row, the desktop Analytics Platform, is what all of us would use day to day, and it's free. Everything below it is about sharing and automating.
- Pro and Team are cloud plans: 19 euros a month for one person, or 99 euros a month for a team of three.
- Business Hub comes in Basic, Standard and Enterprise editions, priced on request based on computing capacity and number of users. The Enterprise edition can be installed on our own infrastructure, which matters for client data.
These prices are from KNIME's website as of this month, and they can change.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suggestion is simple: we don't need to spend anything to start. Everyone installs the free desktop version, and we pick one or two real Tax processes to try. Only once we see real value, and need things like scheduled monthly runs or central access control, do we look at Business Hub. That way any spending decision is based on actual usage, not assumptions.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now show you the proof of concept.</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built a workflow with 20 nodes. It reads three files (orders, products and customers), cleans the data, keeps only completed orders, joins the three files together, calculates revenue, and writes three summary sheets to Excel. I used sales data instead of tax data so there are no confidentiality concerns, but the pattern is exactly a reconciliation: multiple sources, clean, match, calculate, summarise. [If you built it in Alteryx too, say so here.]</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made the data deliberately messy, because real data always is. There were 46 duplicate rows, and about one in ten dates were in a different format. 194 rows had no quantity, region names were typed inconsistently, like NORTH in capitals versus North, and some orders were cancelled or returned. Each problem is handled by a specific node, shown on the right. These are exactly the problems we see in tax data: GSTIN typos, mixed invoice-date formats, blank fields and duplicates.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trusting any tool, I worked out the expected answers separately. The KNIME output matched: 7,819 clean, matched rows out of about 10,000 raw rows, and the same revenue total. I also ran it on a one-million-row file, which produced about 784,000 matched rows. On speed, KNIME took [__] seconds for 10,000 rows and [__] seconds for a million rows, and building the workflow took about [__]. For a Tax team, "does it tie out" is the question that matters, and here it does.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(Switch to KNIME.)
Let me show you this live. Here's the workflow. When I click Execute All, watch the nodes turn green one by one. Red means not configured, amber means ready, and green means done.
(Right-click the Duplicate Row Filter.) Here's the output after removing duplicates: exactly 10,000 rows.
(Open the second Joiner.) After the joins we have 7,819 rows.
(Open the totals node.) And here's the reconciliation total.
Now the part that shows the real value. (Open the first CSV Reader and switch to the 1M file.) I just change the input file and re-run. Same logic, a million rows, no rework.
(Open the Excel output.) And here's the final output in Excel.</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Finally, how you can get this running yourselves.</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It's six steps.
1. Raise an IT software request. It's free, but it still needs approval.
2. Download it from knime.com/downloads. If you don't have admin rights, use the zip version, which you just extract and run.
3. Install it and choose a workspace folder where your workflows will live.
4. This is the one people skip: open the knime.ini file in the install folder and raise the memory setting to about half your RAM. On a 16 GB laptop, that's 8 GB. Otherwise large files will be slow.
5. Add any extensions you need from the menu. On the office network this may be blocked, in which case IT can give us an offline package.
6. I'll share the POC workflow file. Import it and press Execute All.</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requirements are light. It runs on Windows 10 or 11, and on Mac and Linux too. 16 GB of RAM is comfortable for large files, and 8 GB is fine for smaller work. You don't need admin rights with the zip version. The latest version is 5.12. For a team rollout, I'd suggest we all use the long-term support version so everyone is on the same release.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next steps. This week, install KNIME and run the POC workflow I'll share. Over the next two weeks, let's pick one real Tax process to pilot, and GSTR-2B matching would be a good candidate. Then we compare the time saved and use that to decide between KNIME and Alteryx. Which process would you pick to try first? And I'm happy to sit with anyone who gets stuck installing. Questions?</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tx1"/>
        </a:solidFill>
        <a:effectLst/>
      </p:bgPr>
    </p:bg>
    <p:spTree>
      <p:nvGrpSpPr>
        <p:cNvPr id="1" name=""/>
        <p:cNvGrpSpPr/>
        <p:nvPr/>
      </p:nvGrpSpPr>
      <p:grpSpPr>
        <a:xfrm>
          <a:off x="0" y="0"/>
          <a:ext cx="0" cy="0"/>
          <a:chOff x="0" y="0"/>
          <a:chExt cx="0" cy="0"/>
        </a:xfrm>
      </p:grpSpPr>
      <p:sp>
        <p:nvSpPr>
          <p:cNvPr id="2" name="Shape 0"/>
          <p:cNvSpPr/>
          <p:nvPr/>
        </p:nvSpPr>
        <p:spPr>
          <a:xfrm>
            <a:off x="0" y="0"/>
            <a:ext cx="3840480" cy="6858000"/>
          </a:xfrm>
          <a:prstGeom prst="rect">
            <a:avLst/>
          </a:prstGeom>
          <a:solidFill>
            <a:schemeClr val="accent1"/>
          </a:solidFill>
          <a:ln/>
        </p:spPr>
      </p:sp>
      <p:sp>
        <p:nvSpPr>
          <p:cNvPr id="3" name="Text 1"/>
          <p:cNvSpPr>
            <a:spLocks noGrp="1"/>
          </p:cNvSpPr>
          <p:nvPr>
            <p:ph type="title" idx="101" hasCustomPrompt="1"/>
          </p:nvPr>
        </p:nvSpPr>
        <p:spPr>
          <a:xfrm>
            <a:off x="4389120" y="1828800"/>
            <a:ext cx="7223760" cy="1737360"/>
          </a:xfrm>
          <a:prstGeom prst="rect">
            <a:avLst/>
          </a:prstGeom>
          <a:noFill/>
          <a:ln/>
        </p:spPr>
        <p:txBody>
          <a:bodyPr wrap="square" rtlCol="0"/>
          <a:lstStyle>
            <a:lvl1pPr marL="0" indent="0" algn="l">
              <a:buNone/>
              <a:defRPr lang="en-US" sz="4400" b="1" dirty="0">
                <a:solidFill>
                  <a:schemeClr val="bg1"/>
                </a:solidFill>
                <a:latin typeface="Georgia" pitchFamily="34" charset="0"/>
                <a:ea typeface="Georgia" pitchFamily="34" charset="-122"/>
                <a:cs typeface="Georgia" pitchFamily="34" charset="-120"/>
              </a:defRPr>
            </a:lvl1pPr>
          </a:lstStyle>
          <a:p>
            <a:pPr marL="0" indent="0" algn="l">
              <a:buNone/>
            </a:pPr>
            <a:r>
              <a:rPr lang="en-US" sz="4400" b="1" dirty="0">
                <a:solidFill>
                  <a:schemeClr val="bg1"/>
                </a:solidFill>
                <a:latin typeface="Georgia" pitchFamily="34" charset="0"/>
                <a:ea typeface="Georgia" pitchFamily="34" charset="-122"/>
                <a:cs typeface="Georgia" pitchFamily="34" charset="-120"/>
              </a:rPr>
              <a:t>Title</a:t>
            </a:r>
            <a:endParaRPr lang="en-US" sz="4400" dirty="0"/>
          </a:p>
        </p:txBody>
      </p:sp>
      <p:sp>
        <p:nvSpPr>
          <p:cNvPr id="4" name="Text 1"/>
          <p:cNvSpPr>
            <a:spLocks noGrp="1"/>
          </p:cNvSpPr>
          <p:nvPr>
            <p:ph type="body" idx="102" hasCustomPrompt="1"/>
          </p:nvPr>
        </p:nvSpPr>
        <p:spPr>
          <a:xfrm>
            <a:off x="4389120" y="3749040"/>
            <a:ext cx="7223760" cy="109728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r>
              <a:rPr lang="en-US" sz="2000" dirty="0">
                <a:solidFill>
                  <a:schemeClr val="bg2"/>
                </a:solidFill>
              </a:rPr>
              <a:t>Subtitle</a:t>
            </a: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463040"/>
            <a:ext cx="3657600" cy="1463040"/>
          </a:xfrm>
          <a:prstGeom prst="rect">
            <a:avLst/>
          </a:prstGeom>
          <a:noFill/>
          <a:ln/>
        </p:spPr>
        <p:txBody>
          <a:bodyPr wrap="square" rtlCol="0"/>
          <a:lstStyle>
            <a:lvl1pPr marL="0" indent="0" algn="l">
              <a:buNone/>
              <a:defRPr lang="en-US" sz="9600" b="1" dirty="0">
                <a:solidFill>
                  <a:schemeClr val="bg1"/>
                </a:solidFill>
                <a:latin typeface="Georgia" pitchFamily="34" charset="0"/>
                <a:ea typeface="Georgia" pitchFamily="34" charset="-122"/>
                <a:cs typeface="Georgia" pitchFamily="34" charset="-120"/>
              </a:defRPr>
            </a:lvl1pPr>
          </a:lstStyle>
          <a:p>
            <a:pPr marL="0" indent="0" algn="l">
              <a:buNone/>
            </a:pPr>
            <a:r>
              <a:rPr lang="en-US" sz="9600" b="1" dirty="0">
                <a:solidFill>
                  <a:schemeClr val="bg1"/>
                </a:solidFill>
                <a:latin typeface="Georgia" pitchFamily="34" charset="0"/>
                <a:ea typeface="Georgia" pitchFamily="34" charset="-122"/>
                <a:cs typeface="Georgia" pitchFamily="34" charset="-120"/>
              </a:rPr>
              <a:t>01</a:t>
            </a:r>
            <a:endParaRPr lang="en-US" sz="9600" dirty="0"/>
          </a:p>
        </p:txBody>
      </p:sp>
      <p:sp>
        <p:nvSpPr>
          <p:cNvPr id="3" name="Text 0"/>
          <p:cNvSpPr>
            <a:spLocks noGrp="1"/>
          </p:cNvSpPr>
          <p:nvPr>
            <p:ph type="title" idx="101" hasCustomPrompt="1"/>
          </p:nvPr>
        </p:nvSpPr>
        <p:spPr>
          <a:xfrm>
            <a:off x="548640" y="3108960"/>
            <a:ext cx="10058400" cy="1280160"/>
          </a:xfrm>
          <a:prstGeom prst="rect">
            <a:avLst/>
          </a:prstGeom>
          <a:noFill/>
          <a:ln/>
        </p:spPr>
        <p:txBody>
          <a:bodyPr wrap="square" rtlCol="0"/>
          <a:lstStyle>
            <a:lvl1pPr marL="0" indent="0" algn="l">
              <a:buNone/>
              <a:defRPr lang="en-US" sz="4000" b="1" dirty="0">
                <a:solidFill>
                  <a:schemeClr val="bg1"/>
                </a:solidFill>
                <a:latin typeface="Georgia" pitchFamily="34" charset="0"/>
                <a:ea typeface="Georgia" pitchFamily="34" charset="-122"/>
                <a:cs typeface="Georgia" pitchFamily="34" charset="-120"/>
              </a:defRPr>
            </a:lvl1pPr>
          </a:lstStyle>
          <a:p>
            <a:pPr marL="0" indent="0" algn="l">
              <a:buNone/>
            </a:pPr>
            <a:r>
              <a:rPr lang="en-US" sz="4000" b="1" dirty="0">
                <a:solidFill>
                  <a:schemeClr val="bg1"/>
                </a:solidFill>
                <a:latin typeface="Georgia" pitchFamily="34" charset="0"/>
                <a:ea typeface="Georgia" pitchFamily="34" charset="-122"/>
                <a:cs typeface="Georgia" pitchFamily="34" charset="-120"/>
              </a:rPr>
              <a:t>Section</a:t>
            </a:r>
            <a:endParaRPr lang="en-US" sz="4000" dirty="0"/>
          </a:p>
        </p:txBody>
      </p:sp>
      <p:sp>
        <p:nvSpPr>
          <p:cNvPr id="4" name="Text 0"/>
          <p:cNvSpPr/>
          <p:nvPr/>
        </p:nvSpPr>
        <p:spPr>
          <a:xfrm>
            <a:off x="548640" y="6263640"/>
            <a:ext cx="7315200" cy="320040"/>
          </a:xfrm>
          <a:prstGeom prst="rect">
            <a:avLst/>
          </a:prstGeom>
          <a:noFill/>
          <a:ln/>
        </p:spPr>
        <p:txBody>
          <a:bodyPr wrap="square" lIns="0" tIns="0" rIns="0" bIns="0" rtlCol="0" anchor="ctr"/>
          <a:lstStyle/>
          <a:p>
            <a:pPr marL="0" indent="0">
              <a:buNone/>
            </a:pPr>
            <a:r>
              <a:rPr lang="en-US" sz="1000" dirty="0">
                <a:solidFill>
                  <a:schemeClr val="bg1"/>
                </a:solidFill>
              </a:rPr>
              <a:t>KNIME Analytics Platform | Tax team demo</a:t>
            </a:r>
            <a:endParaRPr lang="en-US" sz="1000" dirty="0"/>
          </a:p>
        </p:txBody>
      </p:sp>
      <p:sp>
        <p:nvSpPr>
          <p:cNvPr id="25" name="Slide Number Placeholder 0"/>
          <p:cNvSpPr>
            <a:spLocks noGrp="1"/>
          </p:cNvSpPr>
          <p:nvPr>
            <p:ph type="sldNum" sz="quarter" idx="4294967295"/>
          </p:nvPr>
        </p:nvSpPr>
        <p:spPr>
          <a:xfrm>
            <a:off x="11155680" y="626364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9144000" cy="320040"/>
          </a:xfrm>
          <a:prstGeom prst="rect">
            <a:avLst/>
          </a:prstGeom>
          <a:noFill/>
          <a:ln/>
        </p:spPr>
        <p:txBody>
          <a:bodyPr wrap="square" rtlCol="0"/>
          <a:lstStyle>
            <a:lvl1pPr marL="0" indent="0" algn="l">
              <a:buNone/>
              <a:defRPr lang="en-US" sz="1200" b="1" kern="0" spc="200" dirty="0">
                <a:solidFill>
                  <a:schemeClr val="accent2"/>
                </a:solidFill>
              </a:defRPr>
            </a:lvl1pPr>
          </a:lstStyle>
          <a:p>
            <a:pPr marL="0" indent="0" algn="l">
              <a:buNone/>
            </a:pPr>
            <a:endParaRPr lang="en-US" sz="1200" dirty="0"/>
          </a:p>
        </p:txBody>
      </p:sp>
      <p:sp>
        <p:nvSpPr>
          <p:cNvPr id="3" name="Text 0"/>
          <p:cNvSpPr>
            <a:spLocks noGrp="1"/>
          </p:cNvSpPr>
          <p:nvPr>
            <p:ph type="title" idx="101" hasCustomPrompt="1"/>
          </p:nvPr>
        </p:nvSpPr>
        <p:spPr>
          <a:xfrm>
            <a:off x="548640" y="731520"/>
            <a:ext cx="11064240" cy="822960"/>
          </a:xfrm>
          <a:prstGeom prst="rect">
            <a:avLst/>
          </a:prstGeom>
          <a:noFill/>
          <a:ln/>
        </p:spPr>
        <p:txBody>
          <a:bodyPr wrap="square" rtlCol="0"/>
          <a:lstStyle>
            <a:lvl1pPr marL="0" indent="0" algn="l">
              <a:buNone/>
              <a:defRPr lang="en-US" sz="3000" b="1" dirty="0">
                <a:solidFill>
                  <a:schemeClr val="tx1"/>
                </a:solidFill>
                <a:latin typeface="Georgia" pitchFamily="34" charset="0"/>
                <a:ea typeface="Georgia" pitchFamily="34" charset="-122"/>
                <a:cs typeface="Georgia" pitchFamily="34" charset="-120"/>
              </a:defRPr>
            </a:lvl1pPr>
          </a:lstStyle>
          <a:p>
            <a:pPr marL="0" indent="0" algn="l">
              <a:buNone/>
            </a:pPr>
            <a:r>
              <a:rPr lang="en-US" sz="3000" b="1" dirty="0">
                <a:solidFill>
                  <a:schemeClr val="tx1"/>
                </a:solidFill>
                <a:latin typeface="Georgia" pitchFamily="34" charset="0"/>
                <a:ea typeface="Georgia" pitchFamily="34" charset="-122"/>
                <a:cs typeface="Georgia" pitchFamily="34" charset="-120"/>
              </a:rPr>
              <a:t>Title</a:t>
            </a:r>
            <a:endParaRPr lang="en-US" sz="3000" dirty="0"/>
          </a:p>
        </p:txBody>
      </p:sp>
      <p:sp>
        <p:nvSpPr>
          <p:cNvPr id="4" name="Text 0"/>
          <p:cNvSpPr/>
          <p:nvPr/>
        </p:nvSpPr>
        <p:spPr>
          <a:xfrm>
            <a:off x="548640" y="6355080"/>
            <a:ext cx="7315200" cy="274320"/>
          </a:xfrm>
          <a:prstGeom prst="rect">
            <a:avLst/>
          </a:prstGeom>
          <a:noFill/>
          <a:ln/>
        </p:spPr>
        <p:txBody>
          <a:bodyPr wrap="square" lIns="0" tIns="0" rIns="0" bIns="0" rtlCol="0" anchor="ctr"/>
          <a:lstStyle/>
          <a:p>
            <a:pPr marL="0" indent="0">
              <a:buNone/>
            </a:pPr>
            <a:r>
              <a:rPr lang="en-US" sz="1000" dirty="0">
                <a:solidFill>
                  <a:schemeClr val="accent6"/>
                </a:solidFill>
              </a:rPr>
              <a:t>KNIME Analytics Platform | Tax team demo</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7D7D"/>
                </a:solidFill>
              </a:defRPr>
            </a:lvl1pPr>
          </a:lstStyle>
          <a:p>
            <a:pPr algn="r"/>
            <a:fld id="{F7021451-1387-4CA6-816F-3879F97B5CBC}" type="slidenum">
              <a:rPr lang="en-US" b="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ARK">
    <p:bg>
      <p:bgPr>
        <a:solidFill>
          <a:schemeClr val="tx1"/>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40080"/>
            <a:ext cx="11064240" cy="914400"/>
          </a:xfrm>
          <a:prstGeom prst="rect">
            <a:avLst/>
          </a:prstGeom>
          <a:noFill/>
          <a:ln/>
        </p:spPr>
        <p:txBody>
          <a:bodyPr wrap="square" rtlCol="0"/>
          <a:lstStyle>
            <a:lvl1pPr marL="0" indent="0" algn="l">
              <a:buNone/>
              <a:defRPr lang="en-US" sz="3600" b="1" dirty="0">
                <a:solidFill>
                  <a:schemeClr val="bg1"/>
                </a:solidFill>
                <a:latin typeface="Georgia" pitchFamily="34" charset="0"/>
                <a:ea typeface="Georgia" pitchFamily="34" charset="-122"/>
                <a:cs typeface="Georgia" pitchFamily="34" charset="-120"/>
              </a:defRPr>
            </a:lvl1pPr>
          </a:lstStyle>
          <a:p>
            <a:pPr marL="0" indent="0" algn="l">
              <a:buNone/>
            </a:pPr>
            <a:r>
              <a:rPr lang="en-US" sz="3600" b="1" dirty="0">
                <a:solidFill>
                  <a:schemeClr val="bg1"/>
                </a:solidFill>
                <a:latin typeface="Georgia" pitchFamily="34" charset="0"/>
                <a:ea typeface="Georgia" pitchFamily="34" charset="-122"/>
                <a:cs typeface="Georgia" pitchFamily="34" charset="-120"/>
              </a:rPr>
              <a:t>Title</a:t>
            </a:r>
            <a:endParaRPr lang="en-US" sz="3600" dirty="0"/>
          </a:p>
        </p:txBody>
      </p:sp>
      <p:sp>
        <p:nvSpPr>
          <p:cNvPr id="3" name="Text 0"/>
          <p:cNvSpPr/>
          <p:nvPr/>
        </p:nvSpPr>
        <p:spPr>
          <a:xfrm>
            <a:off x="548640" y="6355080"/>
            <a:ext cx="7315200" cy="274320"/>
          </a:xfrm>
          <a:prstGeom prst="rect">
            <a:avLst/>
          </a:prstGeom>
          <a:noFill/>
          <a:ln/>
        </p:spPr>
        <p:txBody>
          <a:bodyPr wrap="square" lIns="0" tIns="0" rIns="0" bIns="0" rtlCol="0" anchor="ctr"/>
          <a:lstStyle/>
          <a:p>
            <a:pPr marL="0" indent="0">
              <a:buNone/>
            </a:pPr>
            <a:r>
              <a:rPr lang="en-US" sz="1000" dirty="0">
                <a:solidFill>
                  <a:srgbClr val="BFBFBF"/>
                </a:solidFill>
              </a:rPr>
              <a:t>KNIME Analytics Platform | Tax team demo</a:t>
            </a:r>
            <a:endParaRPr lang="en-US" sz="10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FBFBF"/>
                </a:solidFill>
              </a:defRPr>
            </a:lvl1pPr>
          </a:lstStyle>
          <a:p>
            <a:pPr algn="r"/>
            <a:fld id="{F7021451-1387-4CA6-816F-3879F97B5CBC}" type="slidenum">
              <a:rPr lang="en-US" b="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26364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4.xml"/><Relationship Id="rId5" Type="http://schemas.openxmlformats.org/officeDocument/2006/relationships/image" Target="../media/image3.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5.xml"/><Relationship Id="rId1" Type="http://schemas.openxmlformats.org/officeDocument/2006/relationships/slideLayout" Target="../slideLayouts/slideLayout4.xml"/><Relationship Id="rId6" Type="http://schemas.openxmlformats.org/officeDocument/2006/relationships/image" Target="../media/image7.png"/><Relationship Id="rId5" Type="http://schemas.openxmlformats.org/officeDocument/2006/relationships/image" Target="../media/image6.pn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4.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8" Type="http://schemas.openxmlformats.org/officeDocument/2006/relationships/image" Target="../media/image19.png"/><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4.xml"/><Relationship Id="rId6" Type="http://schemas.openxmlformats.org/officeDocument/2006/relationships/image" Target="../media/image6.png"/><Relationship Id="rId5" Type="http://schemas.openxmlformats.org/officeDocument/2006/relationships/image" Target="../media/image17.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6.xml"/><Relationship Id="rId1" Type="http://schemas.openxmlformats.org/officeDocument/2006/relationships/slideLayout" Target="../slideLayouts/slideLayout5.xml"/><Relationship Id="rId6" Type="http://schemas.openxmlformats.org/officeDocument/2006/relationships/image" Target="../media/image23.png"/><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1"/>
          <p:cNvSpPr>
            <a:spLocks noGrp="1"/>
          </p:cNvSpPr>
          <p:nvPr>
            <p:ph type="title" idx="101" hasCustomPrompt="1"/>
          </p:nvPr>
        </p:nvSpPr>
        <p:spPr>
          <a:xfrm>
            <a:off x="4389120" y="1828800"/>
            <a:ext cx="7223760" cy="1737360"/>
          </a:xfrm>
          <a:prstGeom prst="rect">
            <a:avLst/>
          </a:prstGeom>
          <a:noFill/>
          <a:ln/>
        </p:spPr>
        <p:txBody>
          <a:bodyPr wrap="square" lIns="0" tIns="0" rIns="0" bIns="0" rtlCol="0" anchor="b"/>
          <a:lstStyle/>
          <a:p>
            <a:pPr marL="0" indent="0" algn="l">
              <a:buNone/>
            </a:pPr>
            <a:r>
              <a:rPr lang="en-US" sz="4400" b="1" dirty="0">
                <a:solidFill>
                  <a:schemeClr val="bg1"/>
                </a:solidFill>
                <a:latin typeface="Georgia" pitchFamily="34" charset="0"/>
                <a:ea typeface="Georgia" pitchFamily="34" charset="-122"/>
                <a:cs typeface="Georgia" pitchFamily="34" charset="-120"/>
              </a:rPr>
              <a:t>KNIME Analytics Platform</a:t>
            </a:r>
            <a:endParaRPr lang="en-US" sz="4400" dirty="0"/>
          </a:p>
        </p:txBody>
      </p:sp>
      <p:sp>
        <p:nvSpPr>
          <p:cNvPr id="3" name="Text 1"/>
          <p:cNvSpPr>
            <a:spLocks noGrp="1"/>
          </p:cNvSpPr>
          <p:nvPr>
            <p:ph type="body" idx="102" hasCustomPrompt="1"/>
          </p:nvPr>
        </p:nvSpPr>
        <p:spPr>
          <a:xfrm>
            <a:off x="4389120" y="3749040"/>
            <a:ext cx="7223760" cy="1097280"/>
          </a:xfrm>
          <a:prstGeom prst="rect">
            <a:avLst/>
          </a:prstGeom>
          <a:noFill/>
          <a:ln/>
        </p:spPr>
        <p:txBody>
          <a:bodyPr wrap="square" lIns="0" tIns="0" rIns="0" bIns="0" rtlCol="0" anchor="t"/>
          <a:lstStyle/>
          <a:p>
            <a:pPr marL="0" indent="0" algn="l">
              <a:buNone/>
            </a:pPr>
            <a:r>
              <a:rPr lang="en-US" sz="2000" dirty="0">
                <a:solidFill>
                  <a:schemeClr val="bg2"/>
                </a:solidFill>
              </a:rPr>
              <a:t>Features, licensing, a live POC and setup</a:t>
            </a:r>
            <a:endParaRPr lang="en-US" sz="2000" dirty="0"/>
          </a:p>
          <a:p>
            <a:pPr marL="0" indent="0" algn="l">
              <a:buNone/>
            </a:pPr>
            <a:r>
              <a:rPr lang="en-US" sz="2000" dirty="0">
                <a:solidFill>
                  <a:schemeClr val="bg2"/>
                </a:solidFill>
              </a:rPr>
              <a:t>Tax team demo  |  Arjun  |  </a:t>
            </a:r>
            <a:r>
              <a:rPr lang="en-US" dirty="0"/>
              <a:t>21-Oct-2026</a:t>
            </a:r>
            <a:endParaRPr lang="en-US" sz="2000" dirty="0"/>
          </a:p>
        </p:txBody>
      </p:sp>
      <p:pic>
        <p:nvPicPr>
          <p:cNvPr id="4" name="cover icon" descr="preencoded.png"/>
          <p:cNvPicPr>
            <a:picLocks noChangeAspect="1"/>
          </p:cNvPicPr>
          <p:nvPr/>
        </p:nvPicPr>
        <p:blipFill>
          <a:blip r:embed="rId3"/>
          <a:stretch>
            <a:fillRect/>
          </a:stretch>
        </p:blipFill>
        <p:spPr>
          <a:xfrm>
            <a:off x="1234440" y="2697480"/>
            <a:ext cx="1371600" cy="13716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1" hasCustomPrompt="1"/>
          </p:nvPr>
        </p:nvSpPr>
        <p:spPr>
          <a:xfrm>
            <a:off x="548640" y="731520"/>
            <a:ext cx="11064240" cy="822960"/>
          </a:xfrm>
          <a:prstGeom prst="rect">
            <a:avLst/>
          </a:prstGeom>
          <a:noFill/>
          <a:ln/>
        </p:spPr>
        <p:txBody>
          <a:bodyPr wrap="square" lIns="0" tIns="0" rIns="0" bIns="0" rtlCol="0" anchor="t"/>
          <a:lstStyle/>
          <a:p>
            <a:pPr marL="0" indent="0" algn="l">
              <a:buNone/>
            </a:pPr>
            <a:r>
              <a:rPr lang="en-US" sz="3000" b="1" dirty="0">
                <a:solidFill>
                  <a:schemeClr val="tx1"/>
                </a:solidFill>
                <a:latin typeface="Georgia" pitchFamily="34" charset="0"/>
                <a:ea typeface="Georgia" pitchFamily="34" charset="-122"/>
                <a:cs typeface="Georgia" pitchFamily="34" charset="-120"/>
              </a:rPr>
              <a:t>Agenda</a:t>
            </a:r>
            <a:endParaRPr lang="en-US" sz="3000" dirty="0"/>
          </a:p>
        </p:txBody>
      </p:sp>
      <p:sp>
        <p:nvSpPr>
          <p:cNvPr id="3" name="agenda card 01"/>
          <p:cNvSpPr/>
          <p:nvPr/>
        </p:nvSpPr>
        <p:spPr>
          <a:xfrm>
            <a:off x="548640" y="1828800"/>
            <a:ext cx="5440680" cy="1828800"/>
          </a:xfrm>
          <a:prstGeom prst="rect">
            <a:avLst/>
          </a:prstGeom>
          <a:solidFill>
            <a:schemeClr val="bg2"/>
          </a:solidFill>
          <a:ln/>
        </p:spPr>
      </p:sp>
      <p:sp>
        <p:nvSpPr>
          <p:cNvPr id="4" name="Text 2"/>
          <p:cNvSpPr txBox="1"/>
          <p:nvPr/>
        </p:nvSpPr>
        <p:spPr>
          <a:xfrm>
            <a:off x="868680" y="2103120"/>
            <a:ext cx="1097280" cy="640080"/>
          </a:xfrm>
          <a:prstGeom prst="rect">
            <a:avLst/>
          </a:prstGeom>
          <a:noFill/>
          <a:ln/>
        </p:spPr>
        <p:txBody>
          <a:bodyPr wrap="square" lIns="0" tIns="0" rIns="0" bIns="0" rtlCol="0" anchor="t"/>
          <a:lstStyle/>
          <a:p>
            <a:pPr marL="0" indent="0">
              <a:buNone/>
            </a:pPr>
            <a:r>
              <a:rPr lang="en-US" sz="3600" b="1" dirty="0">
                <a:solidFill>
                  <a:schemeClr val="accent1"/>
                </a:solidFill>
                <a:latin typeface="Georgia" pitchFamily="34" charset="0"/>
                <a:ea typeface="Georgia" pitchFamily="34" charset="-122"/>
                <a:cs typeface="Georgia" pitchFamily="34" charset="-120"/>
              </a:rPr>
              <a:t>01</a:t>
            </a:r>
            <a:endParaRPr lang="en-US" sz="3600" dirty="0"/>
          </a:p>
        </p:txBody>
      </p:sp>
      <p:sp>
        <p:nvSpPr>
          <p:cNvPr id="5" name="Text 3"/>
          <p:cNvSpPr txBox="1"/>
          <p:nvPr/>
        </p:nvSpPr>
        <p:spPr>
          <a:xfrm>
            <a:off x="2011680" y="2121408"/>
            <a:ext cx="3749040" cy="731520"/>
          </a:xfrm>
          <a:prstGeom prst="rect">
            <a:avLst/>
          </a:prstGeom>
          <a:noFill/>
          <a:ln/>
        </p:spPr>
        <p:txBody>
          <a:bodyPr wrap="square" lIns="0" tIns="0" rIns="0" bIns="0" rtlCol="0" anchor="t"/>
          <a:lstStyle/>
          <a:p>
            <a:pPr marL="0" indent="0">
              <a:buNone/>
            </a:pPr>
            <a:r>
              <a:rPr lang="en-US" sz="1800" b="1" dirty="0">
                <a:solidFill>
                  <a:schemeClr val="tx1"/>
                </a:solidFill>
              </a:rPr>
              <a:t>Features, capabilities and limitations</a:t>
            </a:r>
            <a:endParaRPr lang="en-US" sz="1800" dirty="0"/>
          </a:p>
        </p:txBody>
      </p:sp>
      <p:sp>
        <p:nvSpPr>
          <p:cNvPr id="6" name="Text 4"/>
          <p:cNvSpPr txBox="1"/>
          <p:nvPr/>
        </p:nvSpPr>
        <p:spPr>
          <a:xfrm>
            <a:off x="2011680" y="2880360"/>
            <a:ext cx="3749040" cy="548640"/>
          </a:xfrm>
          <a:prstGeom prst="rect">
            <a:avLst/>
          </a:prstGeom>
          <a:noFill/>
          <a:ln/>
        </p:spPr>
        <p:txBody>
          <a:bodyPr wrap="square" lIns="0" tIns="0" rIns="0" bIns="0" rtlCol="0" anchor="t"/>
          <a:lstStyle/>
          <a:p>
            <a:pPr marL="0" indent="0">
              <a:buNone/>
            </a:pPr>
            <a:r>
              <a:rPr lang="en-US" sz="1400" dirty="0">
                <a:solidFill>
                  <a:schemeClr val="tx2"/>
                </a:solidFill>
              </a:rPr>
              <a:t>What KNIME is good at, and where it struggles</a:t>
            </a:r>
            <a:endParaRPr lang="en-US" sz="1400" dirty="0"/>
          </a:p>
        </p:txBody>
      </p:sp>
      <p:sp>
        <p:nvSpPr>
          <p:cNvPr id="7" name="agenda card 02"/>
          <p:cNvSpPr/>
          <p:nvPr/>
        </p:nvSpPr>
        <p:spPr>
          <a:xfrm>
            <a:off x="6172200" y="1828800"/>
            <a:ext cx="5440680" cy="1828800"/>
          </a:xfrm>
          <a:prstGeom prst="rect">
            <a:avLst/>
          </a:prstGeom>
          <a:solidFill>
            <a:schemeClr val="bg2"/>
          </a:solidFill>
          <a:ln/>
        </p:spPr>
      </p:sp>
      <p:sp>
        <p:nvSpPr>
          <p:cNvPr id="8" name="Text 6"/>
          <p:cNvSpPr txBox="1"/>
          <p:nvPr/>
        </p:nvSpPr>
        <p:spPr>
          <a:xfrm>
            <a:off x="6492240" y="2103120"/>
            <a:ext cx="1097280" cy="640080"/>
          </a:xfrm>
          <a:prstGeom prst="rect">
            <a:avLst/>
          </a:prstGeom>
          <a:noFill/>
          <a:ln/>
        </p:spPr>
        <p:txBody>
          <a:bodyPr wrap="square" lIns="0" tIns="0" rIns="0" bIns="0" rtlCol="0" anchor="t"/>
          <a:lstStyle/>
          <a:p>
            <a:pPr marL="0" indent="0">
              <a:buNone/>
            </a:pPr>
            <a:r>
              <a:rPr lang="en-US" sz="3600" b="1" dirty="0">
                <a:solidFill>
                  <a:schemeClr val="accent1"/>
                </a:solidFill>
                <a:latin typeface="Georgia" pitchFamily="34" charset="0"/>
                <a:ea typeface="Georgia" pitchFamily="34" charset="-122"/>
                <a:cs typeface="Georgia" pitchFamily="34" charset="-120"/>
              </a:rPr>
              <a:t>02</a:t>
            </a:r>
            <a:endParaRPr lang="en-US" sz="3600" dirty="0"/>
          </a:p>
        </p:txBody>
      </p:sp>
      <p:sp>
        <p:nvSpPr>
          <p:cNvPr id="9" name="Text 7"/>
          <p:cNvSpPr txBox="1"/>
          <p:nvPr/>
        </p:nvSpPr>
        <p:spPr>
          <a:xfrm>
            <a:off x="7635240" y="2121408"/>
            <a:ext cx="3749040" cy="731520"/>
          </a:xfrm>
          <a:prstGeom prst="rect">
            <a:avLst/>
          </a:prstGeom>
          <a:noFill/>
          <a:ln/>
        </p:spPr>
        <p:txBody>
          <a:bodyPr wrap="square" lIns="0" tIns="0" rIns="0" bIns="0" rtlCol="0" anchor="t"/>
          <a:lstStyle/>
          <a:p>
            <a:pPr marL="0" indent="0">
              <a:buNone/>
            </a:pPr>
            <a:r>
              <a:rPr lang="en-US" sz="1800" b="1" dirty="0">
                <a:solidFill>
                  <a:schemeClr val="tx1"/>
                </a:solidFill>
              </a:rPr>
              <a:t>Open source and licensing options</a:t>
            </a:r>
            <a:endParaRPr lang="en-US" sz="1800" dirty="0"/>
          </a:p>
        </p:txBody>
      </p:sp>
      <p:sp>
        <p:nvSpPr>
          <p:cNvPr id="10" name="Text 8"/>
          <p:cNvSpPr txBox="1"/>
          <p:nvPr/>
        </p:nvSpPr>
        <p:spPr>
          <a:xfrm>
            <a:off x="7635240" y="2880360"/>
            <a:ext cx="3749040" cy="548640"/>
          </a:xfrm>
          <a:prstGeom prst="rect">
            <a:avLst/>
          </a:prstGeom>
          <a:noFill/>
          <a:ln/>
        </p:spPr>
        <p:txBody>
          <a:bodyPr wrap="square" lIns="0" tIns="0" rIns="0" bIns="0" rtlCol="0" anchor="t"/>
          <a:lstStyle/>
          <a:p>
            <a:pPr marL="0" indent="0">
              <a:buNone/>
            </a:pPr>
            <a:r>
              <a:rPr lang="en-US" sz="1400" dirty="0">
                <a:solidFill>
                  <a:schemeClr val="tx2"/>
                </a:solidFill>
              </a:rPr>
              <a:t>What's free, what's paid, and what we'd need</a:t>
            </a:r>
            <a:endParaRPr lang="en-US" sz="1400" dirty="0"/>
          </a:p>
        </p:txBody>
      </p:sp>
      <p:sp>
        <p:nvSpPr>
          <p:cNvPr id="11" name="agenda card 03"/>
          <p:cNvSpPr/>
          <p:nvPr/>
        </p:nvSpPr>
        <p:spPr>
          <a:xfrm>
            <a:off x="548640" y="3886200"/>
            <a:ext cx="5440680" cy="1828800"/>
          </a:xfrm>
          <a:prstGeom prst="rect">
            <a:avLst/>
          </a:prstGeom>
          <a:solidFill>
            <a:schemeClr val="bg2"/>
          </a:solidFill>
          <a:ln/>
        </p:spPr>
      </p:sp>
      <p:sp>
        <p:nvSpPr>
          <p:cNvPr id="12" name="Text 10"/>
          <p:cNvSpPr txBox="1"/>
          <p:nvPr/>
        </p:nvSpPr>
        <p:spPr>
          <a:xfrm>
            <a:off x="868680" y="4160520"/>
            <a:ext cx="1097280" cy="640080"/>
          </a:xfrm>
          <a:prstGeom prst="rect">
            <a:avLst/>
          </a:prstGeom>
          <a:noFill/>
          <a:ln/>
        </p:spPr>
        <p:txBody>
          <a:bodyPr wrap="square" lIns="0" tIns="0" rIns="0" bIns="0" rtlCol="0" anchor="t"/>
          <a:lstStyle/>
          <a:p>
            <a:pPr marL="0" indent="0">
              <a:buNone/>
            </a:pPr>
            <a:r>
              <a:rPr lang="en-US" sz="3600" b="1" dirty="0">
                <a:solidFill>
                  <a:schemeClr val="accent1"/>
                </a:solidFill>
                <a:latin typeface="Georgia" pitchFamily="34" charset="0"/>
                <a:ea typeface="Georgia" pitchFamily="34" charset="-122"/>
                <a:cs typeface="Georgia" pitchFamily="34" charset="-120"/>
              </a:rPr>
              <a:t>03</a:t>
            </a:r>
            <a:endParaRPr lang="en-US" sz="3600" dirty="0"/>
          </a:p>
        </p:txBody>
      </p:sp>
      <p:sp>
        <p:nvSpPr>
          <p:cNvPr id="13" name="Text 11"/>
          <p:cNvSpPr txBox="1"/>
          <p:nvPr/>
        </p:nvSpPr>
        <p:spPr>
          <a:xfrm>
            <a:off x="2011680" y="4178808"/>
            <a:ext cx="3749040" cy="731520"/>
          </a:xfrm>
          <a:prstGeom prst="rect">
            <a:avLst/>
          </a:prstGeom>
          <a:noFill/>
          <a:ln/>
        </p:spPr>
        <p:txBody>
          <a:bodyPr wrap="square" lIns="0" tIns="0" rIns="0" bIns="0" rtlCol="0" anchor="t"/>
          <a:lstStyle/>
          <a:p>
            <a:pPr marL="0" indent="0">
              <a:buNone/>
            </a:pPr>
            <a:r>
              <a:rPr lang="en-US" sz="1800" b="1" dirty="0">
                <a:solidFill>
                  <a:schemeClr val="tx1"/>
                </a:solidFill>
              </a:rPr>
              <a:t>Demo of the POC</a:t>
            </a:r>
            <a:endParaRPr lang="en-US" sz="1800" dirty="0"/>
          </a:p>
        </p:txBody>
      </p:sp>
      <p:sp>
        <p:nvSpPr>
          <p:cNvPr id="14" name="Text 12"/>
          <p:cNvSpPr txBox="1"/>
          <p:nvPr/>
        </p:nvSpPr>
        <p:spPr>
          <a:xfrm>
            <a:off x="2011680" y="4937760"/>
            <a:ext cx="3749040" cy="548640"/>
          </a:xfrm>
          <a:prstGeom prst="rect">
            <a:avLst/>
          </a:prstGeom>
          <a:noFill/>
          <a:ln/>
        </p:spPr>
        <p:txBody>
          <a:bodyPr wrap="square" lIns="0" tIns="0" rIns="0" bIns="0" rtlCol="0" anchor="t"/>
          <a:lstStyle/>
          <a:p>
            <a:pPr marL="0" indent="0">
              <a:buNone/>
            </a:pPr>
            <a:r>
              <a:rPr lang="en-US" sz="1400" dirty="0">
                <a:solidFill>
                  <a:schemeClr val="tx2"/>
                </a:solidFill>
              </a:rPr>
              <a:t>A live data-prep and reconciliation workflow</a:t>
            </a:r>
            <a:endParaRPr lang="en-US" sz="1400" dirty="0"/>
          </a:p>
        </p:txBody>
      </p:sp>
      <p:sp>
        <p:nvSpPr>
          <p:cNvPr id="15" name="agenda card 04"/>
          <p:cNvSpPr/>
          <p:nvPr/>
        </p:nvSpPr>
        <p:spPr>
          <a:xfrm>
            <a:off x="6172200" y="3886200"/>
            <a:ext cx="5440680" cy="1828800"/>
          </a:xfrm>
          <a:prstGeom prst="rect">
            <a:avLst/>
          </a:prstGeom>
          <a:solidFill>
            <a:schemeClr val="bg2"/>
          </a:solidFill>
          <a:ln/>
        </p:spPr>
      </p:sp>
      <p:sp>
        <p:nvSpPr>
          <p:cNvPr id="16" name="Text 14"/>
          <p:cNvSpPr txBox="1"/>
          <p:nvPr/>
        </p:nvSpPr>
        <p:spPr>
          <a:xfrm>
            <a:off x="6492240" y="4160520"/>
            <a:ext cx="1097280" cy="640080"/>
          </a:xfrm>
          <a:prstGeom prst="rect">
            <a:avLst/>
          </a:prstGeom>
          <a:noFill/>
          <a:ln/>
        </p:spPr>
        <p:txBody>
          <a:bodyPr wrap="square" lIns="0" tIns="0" rIns="0" bIns="0" rtlCol="0" anchor="t"/>
          <a:lstStyle/>
          <a:p>
            <a:pPr marL="0" indent="0">
              <a:buNone/>
            </a:pPr>
            <a:r>
              <a:rPr lang="en-US" sz="3600" b="1" dirty="0">
                <a:solidFill>
                  <a:schemeClr val="accent1"/>
                </a:solidFill>
                <a:latin typeface="Georgia" pitchFamily="34" charset="0"/>
                <a:ea typeface="Georgia" pitchFamily="34" charset="-122"/>
                <a:cs typeface="Georgia" pitchFamily="34" charset="-120"/>
              </a:rPr>
              <a:t>04</a:t>
            </a:r>
            <a:endParaRPr lang="en-US" sz="3600" dirty="0"/>
          </a:p>
        </p:txBody>
      </p:sp>
      <p:sp>
        <p:nvSpPr>
          <p:cNvPr id="17" name="Text 15"/>
          <p:cNvSpPr txBox="1"/>
          <p:nvPr/>
        </p:nvSpPr>
        <p:spPr>
          <a:xfrm>
            <a:off x="7635240" y="4178808"/>
            <a:ext cx="3749040" cy="731520"/>
          </a:xfrm>
          <a:prstGeom prst="rect">
            <a:avLst/>
          </a:prstGeom>
          <a:noFill/>
          <a:ln/>
        </p:spPr>
        <p:txBody>
          <a:bodyPr wrap="square" lIns="0" tIns="0" rIns="0" bIns="0" rtlCol="0" anchor="t"/>
          <a:lstStyle/>
          <a:p>
            <a:pPr marL="0" indent="0">
              <a:buNone/>
            </a:pPr>
            <a:r>
              <a:rPr lang="en-US" sz="1800" b="1" dirty="0">
                <a:solidFill>
                  <a:schemeClr val="tx1"/>
                </a:solidFill>
              </a:rPr>
              <a:t>Setting up KNIME on your machine</a:t>
            </a:r>
            <a:endParaRPr lang="en-US" sz="1800" dirty="0"/>
          </a:p>
        </p:txBody>
      </p:sp>
      <p:sp>
        <p:nvSpPr>
          <p:cNvPr id="18" name="Text 16"/>
          <p:cNvSpPr txBox="1"/>
          <p:nvPr/>
        </p:nvSpPr>
        <p:spPr>
          <a:xfrm>
            <a:off x="7635240" y="4937760"/>
            <a:ext cx="3749040" cy="548640"/>
          </a:xfrm>
          <a:prstGeom prst="rect">
            <a:avLst/>
          </a:prstGeom>
          <a:noFill/>
          <a:ln/>
        </p:spPr>
        <p:txBody>
          <a:bodyPr wrap="square" lIns="0" tIns="0" rIns="0" bIns="0" rtlCol="0" anchor="t"/>
          <a:lstStyle/>
          <a:p>
            <a:pPr marL="0" indent="0">
              <a:buNone/>
            </a:pPr>
            <a:r>
              <a:rPr lang="en-US" sz="1400" dirty="0">
                <a:solidFill>
                  <a:schemeClr val="tx2"/>
                </a:solidFill>
              </a:rPr>
              <a:t>Install, memory, extensions, first workflow</a:t>
            </a:r>
            <a:endParaRPr lang="en-US" sz="14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7D7D"/>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463040"/>
            <a:ext cx="3657600" cy="1463040"/>
          </a:xfrm>
          <a:prstGeom prst="rect">
            <a:avLst/>
          </a:prstGeom>
          <a:noFill/>
          <a:ln/>
        </p:spPr>
        <p:txBody>
          <a:bodyPr wrap="square" lIns="0" tIns="0" rIns="0" bIns="0" rtlCol="0" anchor="b"/>
          <a:lstStyle/>
          <a:p>
            <a:pPr marL="0" indent="0" algn="l">
              <a:buNone/>
            </a:pPr>
            <a:r>
              <a:rPr lang="en-US" sz="9600" b="1" dirty="0">
                <a:solidFill>
                  <a:schemeClr val="bg1"/>
                </a:solidFill>
                <a:latin typeface="Georgia" pitchFamily="34" charset="0"/>
                <a:ea typeface="Georgia" pitchFamily="34" charset="-122"/>
                <a:cs typeface="Georgia" pitchFamily="34" charset="-120"/>
              </a:rPr>
              <a:t>01</a:t>
            </a:r>
            <a:endParaRPr lang="en-US" sz="9600" dirty="0"/>
          </a:p>
        </p:txBody>
      </p:sp>
      <p:sp>
        <p:nvSpPr>
          <p:cNvPr id="3" name="Text 0"/>
          <p:cNvSpPr>
            <a:spLocks noGrp="1"/>
          </p:cNvSpPr>
          <p:nvPr>
            <p:ph type="title" idx="101" hasCustomPrompt="1"/>
          </p:nvPr>
        </p:nvSpPr>
        <p:spPr>
          <a:xfrm>
            <a:off x="548640" y="3108960"/>
            <a:ext cx="10058400" cy="1280160"/>
          </a:xfrm>
          <a:prstGeom prst="rect">
            <a:avLst/>
          </a:prstGeom>
          <a:noFill/>
          <a:ln/>
        </p:spPr>
        <p:txBody>
          <a:bodyPr wrap="square" lIns="0" tIns="0" rIns="0" bIns="0" rtlCol="0" anchor="t"/>
          <a:lstStyle/>
          <a:p>
            <a:pPr marL="0" indent="0" algn="l">
              <a:buNone/>
            </a:pPr>
            <a:r>
              <a:rPr lang="en-US" sz="4000" b="1" dirty="0">
                <a:solidFill>
                  <a:schemeClr val="bg1"/>
                </a:solidFill>
                <a:latin typeface="Georgia" pitchFamily="34" charset="0"/>
                <a:ea typeface="Georgia" pitchFamily="34" charset="-122"/>
                <a:cs typeface="Georgia" pitchFamily="34" charset="-120"/>
              </a:rPr>
              <a:t>Features, capabilities and limitations</a:t>
            </a:r>
            <a:endParaRPr lang="en-US" sz="4000" dirty="0"/>
          </a:p>
        </p:txBody>
      </p:sp>
      <p:sp>
        <p:nvSpPr>
          <p:cNvPr id="25" name="Slide Number Placeholder 0"/>
          <p:cNvSpPr>
            <a:spLocks noGrp="1"/>
          </p:cNvSpPr>
          <p:nvPr>
            <p:ph type="sldNum" sz="quarter" idx="4294967295"/>
          </p:nvPr>
        </p:nvSpPr>
        <p:spPr>
          <a:xfrm>
            <a:off x="11155680" y="626364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9144000" cy="320040"/>
          </a:xfrm>
          <a:prstGeom prst="rect">
            <a:avLst/>
          </a:prstGeom>
          <a:noFill/>
          <a:ln/>
        </p:spPr>
        <p:txBody>
          <a:bodyPr wrap="square" lIns="0" tIns="0" rIns="0" bIns="0" rtlCol="0"/>
          <a:lstStyle/>
          <a:p>
            <a:pPr marL="0" indent="0" algn="l">
              <a:buNone/>
            </a:pPr>
            <a:r>
              <a:rPr lang="en-US" sz="1200" b="1" kern="0" spc="200" dirty="0">
                <a:solidFill>
                  <a:schemeClr val="accent2"/>
                </a:solidFill>
              </a:rPr>
              <a:t>01 · FEATURES</a:t>
            </a:r>
            <a:endParaRPr lang="en-US" sz="1200" dirty="0"/>
          </a:p>
        </p:txBody>
      </p:sp>
      <p:sp>
        <p:nvSpPr>
          <p:cNvPr id="3" name="Text 0"/>
          <p:cNvSpPr>
            <a:spLocks noGrp="1"/>
          </p:cNvSpPr>
          <p:nvPr>
            <p:ph type="title" idx="101" hasCustomPrompt="1"/>
          </p:nvPr>
        </p:nvSpPr>
        <p:spPr>
          <a:xfrm>
            <a:off x="548640" y="731520"/>
            <a:ext cx="11064240" cy="822960"/>
          </a:xfrm>
          <a:prstGeom prst="rect">
            <a:avLst/>
          </a:prstGeom>
          <a:noFill/>
          <a:ln/>
        </p:spPr>
        <p:txBody>
          <a:bodyPr wrap="square" lIns="0" tIns="0" rIns="0" bIns="0" rtlCol="0" anchor="t"/>
          <a:lstStyle/>
          <a:p>
            <a:pPr marL="0" indent="0" algn="l">
              <a:buNone/>
            </a:pPr>
            <a:r>
              <a:rPr lang="en-US" sz="3000" b="1" dirty="0">
                <a:solidFill>
                  <a:schemeClr val="tx1"/>
                </a:solidFill>
                <a:latin typeface="Georgia" pitchFamily="34" charset="0"/>
                <a:ea typeface="Georgia" pitchFamily="34" charset="-122"/>
                <a:cs typeface="Georgia" pitchFamily="34" charset="-120"/>
              </a:rPr>
              <a:t>KNIME turns repetitive data work into a visual, reusable workflow</a:t>
            </a:r>
            <a:endParaRPr lang="en-US" sz="3000" dirty="0"/>
          </a:p>
        </p:txBody>
      </p:sp>
      <p:sp>
        <p:nvSpPr>
          <p:cNvPr id="4" name="step card 1"/>
          <p:cNvSpPr/>
          <p:nvPr/>
        </p:nvSpPr>
        <p:spPr>
          <a:xfrm>
            <a:off x="548640" y="1965960"/>
            <a:ext cx="3520440" cy="2743200"/>
          </a:xfrm>
          <a:prstGeom prst="rect">
            <a:avLst/>
          </a:prstGeom>
          <a:solidFill>
            <a:schemeClr val="bg2"/>
          </a:solidFill>
          <a:ln/>
        </p:spPr>
      </p:sp>
      <p:sp>
        <p:nvSpPr>
          <p:cNvPr id="5" name="step 1 circle"/>
          <p:cNvSpPr/>
          <p:nvPr/>
        </p:nvSpPr>
        <p:spPr>
          <a:xfrm>
            <a:off x="868680" y="2240280"/>
            <a:ext cx="777240" cy="777240"/>
          </a:xfrm>
          <a:prstGeom prst="ellipse">
            <a:avLst/>
          </a:prstGeom>
          <a:solidFill>
            <a:schemeClr val="accent1"/>
          </a:solidFill>
          <a:ln/>
        </p:spPr>
      </p:sp>
      <p:pic>
        <p:nvPicPr>
          <p:cNvPr id="6" name="step 1 icon" descr="preencoded.png"/>
          <p:cNvPicPr>
            <a:picLocks noChangeAspect="1"/>
          </p:cNvPicPr>
          <p:nvPr/>
        </p:nvPicPr>
        <p:blipFill>
          <a:blip r:embed="rId3"/>
          <a:stretch>
            <a:fillRect/>
          </a:stretch>
        </p:blipFill>
        <p:spPr>
          <a:xfrm>
            <a:off x="1070762" y="2442362"/>
            <a:ext cx="373075" cy="373075"/>
          </a:xfrm>
          <a:prstGeom prst="rect">
            <a:avLst/>
          </a:prstGeom>
        </p:spPr>
      </p:pic>
      <p:sp>
        <p:nvSpPr>
          <p:cNvPr id="7" name="Text 4"/>
          <p:cNvSpPr txBox="1"/>
          <p:nvPr/>
        </p:nvSpPr>
        <p:spPr>
          <a:xfrm>
            <a:off x="868680" y="3200400"/>
            <a:ext cx="2926080" cy="411480"/>
          </a:xfrm>
          <a:prstGeom prst="rect">
            <a:avLst/>
          </a:prstGeom>
          <a:noFill/>
          <a:ln/>
        </p:spPr>
        <p:txBody>
          <a:bodyPr wrap="square" lIns="0" tIns="0" rIns="0" bIns="0" rtlCol="0" anchor="t"/>
          <a:lstStyle/>
          <a:p>
            <a:pPr marL="0" indent="0">
              <a:buNone/>
            </a:pPr>
            <a:r>
              <a:rPr lang="en-US" sz="2000" b="1" dirty="0">
                <a:solidFill>
                  <a:schemeClr val="tx1"/>
                </a:solidFill>
              </a:rPr>
              <a:t>Nodes</a:t>
            </a:r>
            <a:endParaRPr lang="en-US" sz="2000" dirty="0"/>
          </a:p>
        </p:txBody>
      </p:sp>
      <p:sp>
        <p:nvSpPr>
          <p:cNvPr id="8" name="Text 5"/>
          <p:cNvSpPr txBox="1"/>
          <p:nvPr/>
        </p:nvSpPr>
        <p:spPr>
          <a:xfrm>
            <a:off x="868680" y="3657600"/>
            <a:ext cx="2926080" cy="868680"/>
          </a:xfrm>
          <a:prstGeom prst="rect">
            <a:avLst/>
          </a:prstGeom>
          <a:noFill/>
          <a:ln/>
        </p:spPr>
        <p:txBody>
          <a:bodyPr wrap="square" lIns="0" tIns="0" rIns="0" bIns="0" rtlCol="0" anchor="t"/>
          <a:lstStyle/>
          <a:p>
            <a:pPr marL="0" indent="0">
              <a:buNone/>
            </a:pPr>
            <a:r>
              <a:rPr lang="en-US" sz="1400" dirty="0">
                <a:solidFill>
                  <a:schemeClr val="tx2"/>
                </a:solidFill>
              </a:rPr>
              <a:t>Each box does one job: read a file, filter rows, join, calculate</a:t>
            </a:r>
            <a:endParaRPr lang="en-US" sz="1400" dirty="0"/>
          </a:p>
        </p:txBody>
      </p:sp>
      <p:sp>
        <p:nvSpPr>
          <p:cNvPr id="9" name="arrow 1"/>
          <p:cNvSpPr/>
          <p:nvPr/>
        </p:nvSpPr>
        <p:spPr>
          <a:xfrm>
            <a:off x="4096512" y="3200400"/>
            <a:ext cx="182880" cy="274320"/>
          </a:xfrm>
          <a:prstGeom prst="rightArrow">
            <a:avLst/>
          </a:prstGeom>
          <a:solidFill>
            <a:schemeClr val="accent1"/>
          </a:solidFill>
          <a:ln/>
        </p:spPr>
      </p:sp>
      <p:sp>
        <p:nvSpPr>
          <p:cNvPr id="10" name="step card 2"/>
          <p:cNvSpPr/>
          <p:nvPr/>
        </p:nvSpPr>
        <p:spPr>
          <a:xfrm>
            <a:off x="4297680" y="1965960"/>
            <a:ext cx="3520440" cy="2743200"/>
          </a:xfrm>
          <a:prstGeom prst="rect">
            <a:avLst/>
          </a:prstGeom>
          <a:solidFill>
            <a:schemeClr val="bg2"/>
          </a:solidFill>
          <a:ln/>
        </p:spPr>
      </p:sp>
      <p:sp>
        <p:nvSpPr>
          <p:cNvPr id="11" name="step 2 circle"/>
          <p:cNvSpPr/>
          <p:nvPr/>
        </p:nvSpPr>
        <p:spPr>
          <a:xfrm>
            <a:off x="4617720" y="2240280"/>
            <a:ext cx="777240" cy="777240"/>
          </a:xfrm>
          <a:prstGeom prst="ellipse">
            <a:avLst/>
          </a:prstGeom>
          <a:solidFill>
            <a:schemeClr val="accent1"/>
          </a:solidFill>
          <a:ln/>
        </p:spPr>
      </p:sp>
      <p:pic>
        <p:nvPicPr>
          <p:cNvPr id="12" name="step 2 icon" descr="preencoded.png"/>
          <p:cNvPicPr>
            <a:picLocks noChangeAspect="1"/>
          </p:cNvPicPr>
          <p:nvPr/>
        </p:nvPicPr>
        <p:blipFill>
          <a:blip r:embed="rId4"/>
          <a:stretch>
            <a:fillRect/>
          </a:stretch>
        </p:blipFill>
        <p:spPr>
          <a:xfrm>
            <a:off x="4819802" y="2442362"/>
            <a:ext cx="373075" cy="373075"/>
          </a:xfrm>
          <a:prstGeom prst="rect">
            <a:avLst/>
          </a:prstGeom>
        </p:spPr>
      </p:pic>
      <p:sp>
        <p:nvSpPr>
          <p:cNvPr id="13" name="Text 9"/>
          <p:cNvSpPr txBox="1"/>
          <p:nvPr/>
        </p:nvSpPr>
        <p:spPr>
          <a:xfrm>
            <a:off x="4617720" y="3200400"/>
            <a:ext cx="2926080" cy="411480"/>
          </a:xfrm>
          <a:prstGeom prst="rect">
            <a:avLst/>
          </a:prstGeom>
          <a:noFill/>
          <a:ln/>
        </p:spPr>
        <p:txBody>
          <a:bodyPr wrap="square" lIns="0" tIns="0" rIns="0" bIns="0" rtlCol="0" anchor="t"/>
          <a:lstStyle/>
          <a:p>
            <a:pPr marL="0" indent="0">
              <a:buNone/>
            </a:pPr>
            <a:r>
              <a:rPr lang="en-US" sz="2000" b="1" dirty="0">
                <a:solidFill>
                  <a:schemeClr val="tx1"/>
                </a:solidFill>
              </a:rPr>
              <a:t>Workflow</a:t>
            </a:r>
            <a:endParaRPr lang="en-US" sz="2000" dirty="0"/>
          </a:p>
        </p:txBody>
      </p:sp>
      <p:sp>
        <p:nvSpPr>
          <p:cNvPr id="14" name="Text 10"/>
          <p:cNvSpPr txBox="1"/>
          <p:nvPr/>
        </p:nvSpPr>
        <p:spPr>
          <a:xfrm>
            <a:off x="4617720" y="3657600"/>
            <a:ext cx="2926080" cy="868680"/>
          </a:xfrm>
          <a:prstGeom prst="rect">
            <a:avLst/>
          </a:prstGeom>
          <a:noFill/>
          <a:ln/>
        </p:spPr>
        <p:txBody>
          <a:bodyPr wrap="square" lIns="0" tIns="0" rIns="0" bIns="0" rtlCol="0" anchor="t"/>
          <a:lstStyle/>
          <a:p>
            <a:pPr marL="0" indent="0">
              <a:buNone/>
            </a:pPr>
            <a:r>
              <a:rPr lang="en-US" sz="1400" dirty="0">
                <a:solidFill>
                  <a:schemeClr val="tx2"/>
                </a:solidFill>
              </a:rPr>
              <a:t>Connect nodes left to right. The picture is the process</a:t>
            </a:r>
            <a:endParaRPr lang="en-US" sz="1400" dirty="0"/>
          </a:p>
        </p:txBody>
      </p:sp>
      <p:sp>
        <p:nvSpPr>
          <p:cNvPr id="15" name="arrow 2"/>
          <p:cNvSpPr/>
          <p:nvPr/>
        </p:nvSpPr>
        <p:spPr>
          <a:xfrm>
            <a:off x="7845552" y="3200400"/>
            <a:ext cx="182880" cy="274320"/>
          </a:xfrm>
          <a:prstGeom prst="rightArrow">
            <a:avLst/>
          </a:prstGeom>
          <a:solidFill>
            <a:schemeClr val="accent1"/>
          </a:solidFill>
          <a:ln/>
        </p:spPr>
      </p:sp>
      <p:sp>
        <p:nvSpPr>
          <p:cNvPr id="16" name="step card 3"/>
          <p:cNvSpPr/>
          <p:nvPr/>
        </p:nvSpPr>
        <p:spPr>
          <a:xfrm>
            <a:off x="8046720" y="1965960"/>
            <a:ext cx="3520440" cy="2743200"/>
          </a:xfrm>
          <a:prstGeom prst="rect">
            <a:avLst/>
          </a:prstGeom>
          <a:solidFill>
            <a:schemeClr val="bg2"/>
          </a:solidFill>
          <a:ln/>
        </p:spPr>
      </p:sp>
      <p:sp>
        <p:nvSpPr>
          <p:cNvPr id="17" name="step 3 circle"/>
          <p:cNvSpPr/>
          <p:nvPr/>
        </p:nvSpPr>
        <p:spPr>
          <a:xfrm>
            <a:off x="8366760" y="2240280"/>
            <a:ext cx="777240" cy="777240"/>
          </a:xfrm>
          <a:prstGeom prst="ellipse">
            <a:avLst/>
          </a:prstGeom>
          <a:solidFill>
            <a:schemeClr val="accent1"/>
          </a:solidFill>
          <a:ln/>
        </p:spPr>
      </p:sp>
      <p:pic>
        <p:nvPicPr>
          <p:cNvPr id="18" name="step 3 icon" descr="preencoded.png"/>
          <p:cNvPicPr>
            <a:picLocks noChangeAspect="1"/>
          </p:cNvPicPr>
          <p:nvPr/>
        </p:nvPicPr>
        <p:blipFill>
          <a:blip r:embed="rId5"/>
          <a:stretch>
            <a:fillRect/>
          </a:stretch>
        </p:blipFill>
        <p:spPr>
          <a:xfrm>
            <a:off x="8568842" y="2442362"/>
            <a:ext cx="373075" cy="373075"/>
          </a:xfrm>
          <a:prstGeom prst="rect">
            <a:avLst/>
          </a:prstGeom>
        </p:spPr>
      </p:pic>
      <p:sp>
        <p:nvSpPr>
          <p:cNvPr id="19" name="Text 14"/>
          <p:cNvSpPr txBox="1"/>
          <p:nvPr/>
        </p:nvSpPr>
        <p:spPr>
          <a:xfrm>
            <a:off x="8366760" y="3200400"/>
            <a:ext cx="2926080" cy="411480"/>
          </a:xfrm>
          <a:prstGeom prst="rect">
            <a:avLst/>
          </a:prstGeom>
          <a:noFill/>
          <a:ln/>
        </p:spPr>
        <p:txBody>
          <a:bodyPr wrap="square" lIns="0" tIns="0" rIns="0" bIns="0" rtlCol="0" anchor="t"/>
          <a:lstStyle/>
          <a:p>
            <a:pPr marL="0" indent="0">
              <a:buNone/>
            </a:pPr>
            <a:r>
              <a:rPr lang="en-US" sz="2000" b="1" dirty="0">
                <a:solidFill>
                  <a:schemeClr val="tx1"/>
                </a:solidFill>
              </a:rPr>
              <a:t>Re-run</a:t>
            </a:r>
            <a:endParaRPr lang="en-US" sz="2000" dirty="0"/>
          </a:p>
        </p:txBody>
      </p:sp>
      <p:sp>
        <p:nvSpPr>
          <p:cNvPr id="20" name="Text 15"/>
          <p:cNvSpPr txBox="1"/>
          <p:nvPr/>
        </p:nvSpPr>
        <p:spPr>
          <a:xfrm>
            <a:off x="8366760" y="3657600"/>
            <a:ext cx="2926080" cy="868680"/>
          </a:xfrm>
          <a:prstGeom prst="rect">
            <a:avLst/>
          </a:prstGeom>
          <a:noFill/>
          <a:ln/>
        </p:spPr>
        <p:txBody>
          <a:bodyPr wrap="square" lIns="0" tIns="0" rIns="0" bIns="0" rtlCol="0" anchor="t"/>
          <a:lstStyle/>
          <a:p>
            <a:pPr marL="0" indent="0">
              <a:buNone/>
            </a:pPr>
            <a:r>
              <a:rPr lang="en-US" sz="1400" dirty="0">
                <a:solidFill>
                  <a:schemeClr val="tx2"/>
                </a:solidFill>
              </a:rPr>
              <a:t>Next month, swap the input file and press Execute</a:t>
            </a:r>
            <a:endParaRPr lang="en-US" sz="1400" dirty="0"/>
          </a:p>
        </p:txBody>
      </p:sp>
      <p:sp>
        <p:nvSpPr>
          <p:cNvPr id="21" name="Text 16"/>
          <p:cNvSpPr txBox="1"/>
          <p:nvPr/>
        </p:nvSpPr>
        <p:spPr>
          <a:xfrm>
            <a:off x="548640" y="5074920"/>
            <a:ext cx="11064240" cy="548640"/>
          </a:xfrm>
          <a:prstGeom prst="rect">
            <a:avLst/>
          </a:prstGeom>
          <a:noFill/>
          <a:ln/>
        </p:spPr>
        <p:txBody>
          <a:bodyPr wrap="square" lIns="0" tIns="0" rIns="0" bIns="0" rtlCol="0" anchor="t"/>
          <a:lstStyle/>
          <a:p>
            <a:pPr marL="0" indent="0">
              <a:buNone/>
            </a:pPr>
            <a:r>
              <a:rPr lang="en-US" sz="1600" dirty="0">
                <a:solidFill>
                  <a:schemeClr val="tx2"/>
                </a:solidFill>
              </a:rPr>
              <a:t>No coding needed for most tasks. Desktop app for Windows, Mac and Linux. Data stays on your machine.</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7D7D"/>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9144000" cy="320040"/>
          </a:xfrm>
          <a:prstGeom prst="rect">
            <a:avLst/>
          </a:prstGeom>
          <a:noFill/>
          <a:ln/>
        </p:spPr>
        <p:txBody>
          <a:bodyPr wrap="square" lIns="0" tIns="0" rIns="0" bIns="0" rtlCol="0"/>
          <a:lstStyle/>
          <a:p>
            <a:pPr marL="0" indent="0" algn="l">
              <a:buNone/>
            </a:pPr>
            <a:r>
              <a:rPr lang="en-US" sz="1200" b="1" kern="0" spc="200" dirty="0">
                <a:solidFill>
                  <a:schemeClr val="accent2"/>
                </a:solidFill>
              </a:rPr>
              <a:t>01 · CAPABILITIES</a:t>
            </a:r>
            <a:endParaRPr lang="en-US" sz="1200" dirty="0"/>
          </a:p>
        </p:txBody>
      </p:sp>
      <p:sp>
        <p:nvSpPr>
          <p:cNvPr id="3" name="Text 0"/>
          <p:cNvSpPr>
            <a:spLocks noGrp="1"/>
          </p:cNvSpPr>
          <p:nvPr>
            <p:ph type="title" idx="101" hasCustomPrompt="1"/>
          </p:nvPr>
        </p:nvSpPr>
        <p:spPr>
          <a:xfrm>
            <a:off x="548640" y="731520"/>
            <a:ext cx="11064240" cy="822960"/>
          </a:xfrm>
          <a:prstGeom prst="rect">
            <a:avLst/>
          </a:prstGeom>
          <a:noFill/>
          <a:ln/>
        </p:spPr>
        <p:txBody>
          <a:bodyPr wrap="square" lIns="0" tIns="0" rIns="0" bIns="0" rtlCol="0" anchor="t"/>
          <a:lstStyle/>
          <a:p>
            <a:pPr marL="0" indent="0" algn="l">
              <a:buNone/>
            </a:pPr>
            <a:r>
              <a:rPr lang="en-US" sz="3000" b="1" dirty="0">
                <a:solidFill>
                  <a:schemeClr val="tx1"/>
                </a:solidFill>
                <a:latin typeface="Georgia" pitchFamily="34" charset="0"/>
                <a:ea typeface="Georgia" pitchFamily="34" charset="-122"/>
                <a:cs typeface="Georgia" pitchFamily="34" charset="-120"/>
              </a:rPr>
              <a:t>Core capabilities</a:t>
            </a:r>
            <a:endParaRPr lang="en-US" sz="3000" dirty="0"/>
          </a:p>
        </p:txBody>
      </p:sp>
      <p:sp>
        <p:nvSpPr>
          <p:cNvPr id="4" name="capability Connect"/>
          <p:cNvSpPr/>
          <p:nvPr/>
        </p:nvSpPr>
        <p:spPr>
          <a:xfrm>
            <a:off x="548640" y="1828800"/>
            <a:ext cx="3520440" cy="1965960"/>
          </a:xfrm>
          <a:prstGeom prst="rect">
            <a:avLst/>
          </a:prstGeom>
          <a:solidFill>
            <a:schemeClr val="bg2"/>
          </a:solidFill>
          <a:ln/>
        </p:spPr>
      </p:sp>
      <p:sp>
        <p:nvSpPr>
          <p:cNvPr id="5" name="capability 1 circle"/>
          <p:cNvSpPr/>
          <p:nvPr/>
        </p:nvSpPr>
        <p:spPr>
          <a:xfrm>
            <a:off x="822960" y="2103120"/>
            <a:ext cx="594360" cy="594360"/>
          </a:xfrm>
          <a:prstGeom prst="ellipse">
            <a:avLst/>
          </a:prstGeom>
          <a:solidFill>
            <a:schemeClr val="accent1"/>
          </a:solidFill>
          <a:ln/>
        </p:spPr>
      </p:sp>
      <p:pic>
        <p:nvPicPr>
          <p:cNvPr id="6" name="capability 1 icon" descr="preencoded.png"/>
          <p:cNvPicPr>
            <a:picLocks noChangeAspect="1"/>
          </p:cNvPicPr>
          <p:nvPr/>
        </p:nvPicPr>
        <p:blipFill>
          <a:blip r:embed="rId3"/>
          <a:stretch>
            <a:fillRect/>
          </a:stretch>
        </p:blipFill>
        <p:spPr>
          <a:xfrm>
            <a:off x="977494" y="2257654"/>
            <a:ext cx="285293" cy="285293"/>
          </a:xfrm>
          <a:prstGeom prst="rect">
            <a:avLst/>
          </a:prstGeom>
        </p:spPr>
      </p:pic>
      <p:sp>
        <p:nvSpPr>
          <p:cNvPr id="7" name="Text 4"/>
          <p:cNvSpPr txBox="1"/>
          <p:nvPr/>
        </p:nvSpPr>
        <p:spPr>
          <a:xfrm>
            <a:off x="1554480" y="2176272"/>
            <a:ext cx="2377440" cy="457200"/>
          </a:xfrm>
          <a:prstGeom prst="rect">
            <a:avLst/>
          </a:prstGeom>
          <a:noFill/>
          <a:ln/>
        </p:spPr>
        <p:txBody>
          <a:bodyPr wrap="square" lIns="0" tIns="0" rIns="0" bIns="0" rtlCol="0" anchor="ctr"/>
          <a:lstStyle/>
          <a:p>
            <a:pPr marL="0" indent="0">
              <a:buNone/>
            </a:pPr>
            <a:r>
              <a:rPr lang="en-US" sz="1700" b="1" dirty="0">
                <a:solidFill>
                  <a:schemeClr val="tx1"/>
                </a:solidFill>
              </a:rPr>
              <a:t>Connect</a:t>
            </a:r>
            <a:endParaRPr lang="en-US" sz="1700" dirty="0"/>
          </a:p>
        </p:txBody>
      </p:sp>
      <p:sp>
        <p:nvSpPr>
          <p:cNvPr id="8" name="Text 5"/>
          <p:cNvSpPr txBox="1"/>
          <p:nvPr/>
        </p:nvSpPr>
        <p:spPr>
          <a:xfrm>
            <a:off x="822960" y="2834640"/>
            <a:ext cx="3017520" cy="822960"/>
          </a:xfrm>
          <a:prstGeom prst="rect">
            <a:avLst/>
          </a:prstGeom>
          <a:noFill/>
          <a:ln/>
        </p:spPr>
        <p:txBody>
          <a:bodyPr wrap="square" lIns="0" tIns="0" rIns="0" bIns="0" rtlCol="0" anchor="t"/>
          <a:lstStyle/>
          <a:p>
            <a:pPr marL="0" indent="0">
              <a:buNone/>
            </a:pPr>
            <a:r>
              <a:rPr lang="en-US" sz="1400" dirty="0">
                <a:solidFill>
                  <a:schemeClr val="tx2"/>
                </a:solidFill>
              </a:rPr>
              <a:t>Excel, CSV, PDF tables, databases, cloud storage, APIs: 300+ connectors</a:t>
            </a:r>
            <a:endParaRPr lang="en-US" sz="1400" dirty="0"/>
          </a:p>
        </p:txBody>
      </p:sp>
      <p:sp>
        <p:nvSpPr>
          <p:cNvPr id="9" name="capability Clean"/>
          <p:cNvSpPr/>
          <p:nvPr/>
        </p:nvSpPr>
        <p:spPr>
          <a:xfrm>
            <a:off x="4297680" y="1828800"/>
            <a:ext cx="3520440" cy="1965960"/>
          </a:xfrm>
          <a:prstGeom prst="rect">
            <a:avLst/>
          </a:prstGeom>
          <a:solidFill>
            <a:schemeClr val="bg2"/>
          </a:solidFill>
          <a:ln/>
        </p:spPr>
      </p:sp>
      <p:sp>
        <p:nvSpPr>
          <p:cNvPr id="10" name="capability 2 circle"/>
          <p:cNvSpPr/>
          <p:nvPr/>
        </p:nvSpPr>
        <p:spPr>
          <a:xfrm>
            <a:off x="4572000" y="2103120"/>
            <a:ext cx="594360" cy="594360"/>
          </a:xfrm>
          <a:prstGeom prst="ellipse">
            <a:avLst/>
          </a:prstGeom>
          <a:solidFill>
            <a:schemeClr val="accent1"/>
          </a:solidFill>
          <a:ln/>
        </p:spPr>
      </p:sp>
      <p:pic>
        <p:nvPicPr>
          <p:cNvPr id="11" name="capability 2 icon" descr="preencoded.png"/>
          <p:cNvPicPr>
            <a:picLocks noChangeAspect="1"/>
          </p:cNvPicPr>
          <p:nvPr/>
        </p:nvPicPr>
        <p:blipFill>
          <a:blip r:embed="rId4"/>
          <a:stretch>
            <a:fillRect/>
          </a:stretch>
        </p:blipFill>
        <p:spPr>
          <a:xfrm>
            <a:off x="4726534" y="2257654"/>
            <a:ext cx="285293" cy="285293"/>
          </a:xfrm>
          <a:prstGeom prst="rect">
            <a:avLst/>
          </a:prstGeom>
        </p:spPr>
      </p:pic>
      <p:sp>
        <p:nvSpPr>
          <p:cNvPr id="12" name="Text 8"/>
          <p:cNvSpPr txBox="1"/>
          <p:nvPr/>
        </p:nvSpPr>
        <p:spPr>
          <a:xfrm>
            <a:off x="5303520" y="2176272"/>
            <a:ext cx="2377440" cy="457200"/>
          </a:xfrm>
          <a:prstGeom prst="rect">
            <a:avLst/>
          </a:prstGeom>
          <a:noFill/>
          <a:ln/>
        </p:spPr>
        <p:txBody>
          <a:bodyPr wrap="square" lIns="0" tIns="0" rIns="0" bIns="0" rtlCol="0" anchor="ctr"/>
          <a:lstStyle/>
          <a:p>
            <a:pPr marL="0" indent="0">
              <a:buNone/>
            </a:pPr>
            <a:r>
              <a:rPr lang="en-US" sz="1700" b="1" dirty="0">
                <a:solidFill>
                  <a:schemeClr val="tx1"/>
                </a:solidFill>
              </a:rPr>
              <a:t>Clean</a:t>
            </a:r>
            <a:endParaRPr lang="en-US" sz="1700" dirty="0"/>
          </a:p>
        </p:txBody>
      </p:sp>
      <p:sp>
        <p:nvSpPr>
          <p:cNvPr id="13" name="Text 9"/>
          <p:cNvSpPr txBox="1"/>
          <p:nvPr/>
        </p:nvSpPr>
        <p:spPr>
          <a:xfrm>
            <a:off x="4572000" y="2834640"/>
            <a:ext cx="3017520" cy="822960"/>
          </a:xfrm>
          <a:prstGeom prst="rect">
            <a:avLst/>
          </a:prstGeom>
          <a:noFill/>
          <a:ln/>
        </p:spPr>
        <p:txBody>
          <a:bodyPr wrap="square" lIns="0" tIns="0" rIns="0" bIns="0" rtlCol="0" anchor="t"/>
          <a:lstStyle/>
          <a:p>
            <a:pPr marL="0" indent="0">
              <a:buNone/>
            </a:pPr>
            <a:r>
              <a:rPr lang="en-US" sz="1400" dirty="0">
                <a:solidFill>
                  <a:schemeClr val="tx2"/>
                </a:solidFill>
              </a:rPr>
              <a:t>Remove duplicates, fix date formats, fill or drop blanks, standardise text</a:t>
            </a:r>
            <a:endParaRPr lang="en-US" sz="1400" dirty="0"/>
          </a:p>
        </p:txBody>
      </p:sp>
      <p:sp>
        <p:nvSpPr>
          <p:cNvPr id="14" name="capability Join and reconcile"/>
          <p:cNvSpPr/>
          <p:nvPr/>
        </p:nvSpPr>
        <p:spPr>
          <a:xfrm>
            <a:off x="8046720" y="1828800"/>
            <a:ext cx="3520440" cy="1965960"/>
          </a:xfrm>
          <a:prstGeom prst="rect">
            <a:avLst/>
          </a:prstGeom>
          <a:solidFill>
            <a:schemeClr val="bg2"/>
          </a:solidFill>
          <a:ln/>
        </p:spPr>
      </p:sp>
      <p:sp>
        <p:nvSpPr>
          <p:cNvPr id="15" name="capability 3 circle"/>
          <p:cNvSpPr/>
          <p:nvPr/>
        </p:nvSpPr>
        <p:spPr>
          <a:xfrm>
            <a:off x="8321040" y="2103120"/>
            <a:ext cx="594360" cy="594360"/>
          </a:xfrm>
          <a:prstGeom prst="ellipse">
            <a:avLst/>
          </a:prstGeom>
          <a:solidFill>
            <a:schemeClr val="accent1"/>
          </a:solidFill>
          <a:ln/>
        </p:spPr>
      </p:sp>
      <p:pic>
        <p:nvPicPr>
          <p:cNvPr id="16" name="capability 3 icon" descr="preencoded.png"/>
          <p:cNvPicPr>
            <a:picLocks noChangeAspect="1"/>
          </p:cNvPicPr>
          <p:nvPr/>
        </p:nvPicPr>
        <p:blipFill>
          <a:blip r:embed="rId5"/>
          <a:stretch>
            <a:fillRect/>
          </a:stretch>
        </p:blipFill>
        <p:spPr>
          <a:xfrm>
            <a:off x="8475574" y="2257654"/>
            <a:ext cx="285293" cy="285293"/>
          </a:xfrm>
          <a:prstGeom prst="rect">
            <a:avLst/>
          </a:prstGeom>
        </p:spPr>
      </p:pic>
      <p:sp>
        <p:nvSpPr>
          <p:cNvPr id="17" name="Text 12"/>
          <p:cNvSpPr txBox="1"/>
          <p:nvPr/>
        </p:nvSpPr>
        <p:spPr>
          <a:xfrm>
            <a:off x="9052560" y="2176272"/>
            <a:ext cx="2377440" cy="457200"/>
          </a:xfrm>
          <a:prstGeom prst="rect">
            <a:avLst/>
          </a:prstGeom>
          <a:noFill/>
          <a:ln/>
        </p:spPr>
        <p:txBody>
          <a:bodyPr wrap="square" lIns="0" tIns="0" rIns="0" bIns="0" rtlCol="0" anchor="ctr"/>
          <a:lstStyle/>
          <a:p>
            <a:pPr marL="0" indent="0">
              <a:buNone/>
            </a:pPr>
            <a:r>
              <a:rPr lang="en-US" sz="1700" b="1" dirty="0">
                <a:solidFill>
                  <a:schemeClr val="tx1"/>
                </a:solidFill>
              </a:rPr>
              <a:t>Join and reconcile</a:t>
            </a:r>
            <a:endParaRPr lang="en-US" sz="1700" dirty="0"/>
          </a:p>
        </p:txBody>
      </p:sp>
      <p:sp>
        <p:nvSpPr>
          <p:cNvPr id="18" name="Text 13"/>
          <p:cNvSpPr txBox="1"/>
          <p:nvPr/>
        </p:nvSpPr>
        <p:spPr>
          <a:xfrm>
            <a:off x="8321040" y="2834640"/>
            <a:ext cx="3017520" cy="822960"/>
          </a:xfrm>
          <a:prstGeom prst="rect">
            <a:avLst/>
          </a:prstGeom>
          <a:noFill/>
          <a:ln/>
        </p:spPr>
        <p:txBody>
          <a:bodyPr wrap="square" lIns="0" tIns="0" rIns="0" bIns="0" rtlCol="0" anchor="t"/>
          <a:lstStyle/>
          <a:p>
            <a:pPr marL="0" indent="0">
              <a:buNone/>
            </a:pPr>
            <a:r>
              <a:rPr lang="en-US" sz="1400" dirty="0">
                <a:solidFill>
                  <a:schemeClr val="tx2"/>
                </a:solidFill>
              </a:rPr>
              <a:t>Match records across sources and isolate the ones that don't match</a:t>
            </a:r>
            <a:endParaRPr lang="en-US" sz="1400" dirty="0"/>
          </a:p>
        </p:txBody>
      </p:sp>
      <p:sp>
        <p:nvSpPr>
          <p:cNvPr id="19" name="capability Summarise and report"/>
          <p:cNvSpPr/>
          <p:nvPr/>
        </p:nvSpPr>
        <p:spPr>
          <a:xfrm>
            <a:off x="548640" y="3977640"/>
            <a:ext cx="3520440" cy="1965960"/>
          </a:xfrm>
          <a:prstGeom prst="rect">
            <a:avLst/>
          </a:prstGeom>
          <a:solidFill>
            <a:schemeClr val="bg2"/>
          </a:solidFill>
          <a:ln/>
        </p:spPr>
      </p:sp>
      <p:sp>
        <p:nvSpPr>
          <p:cNvPr id="20" name="capability 4 circle"/>
          <p:cNvSpPr/>
          <p:nvPr/>
        </p:nvSpPr>
        <p:spPr>
          <a:xfrm>
            <a:off x="822960" y="4251960"/>
            <a:ext cx="594360" cy="594360"/>
          </a:xfrm>
          <a:prstGeom prst="ellipse">
            <a:avLst/>
          </a:prstGeom>
          <a:solidFill>
            <a:schemeClr val="accent1"/>
          </a:solidFill>
          <a:ln/>
        </p:spPr>
      </p:sp>
      <p:pic>
        <p:nvPicPr>
          <p:cNvPr id="21" name="capability 4 icon" descr="preencoded.png"/>
          <p:cNvPicPr>
            <a:picLocks noChangeAspect="1"/>
          </p:cNvPicPr>
          <p:nvPr/>
        </p:nvPicPr>
        <p:blipFill>
          <a:blip r:embed="rId6"/>
          <a:stretch>
            <a:fillRect/>
          </a:stretch>
        </p:blipFill>
        <p:spPr>
          <a:xfrm>
            <a:off x="977494" y="4406494"/>
            <a:ext cx="285293" cy="285293"/>
          </a:xfrm>
          <a:prstGeom prst="rect">
            <a:avLst/>
          </a:prstGeom>
        </p:spPr>
      </p:pic>
      <p:sp>
        <p:nvSpPr>
          <p:cNvPr id="22" name="Text 16"/>
          <p:cNvSpPr txBox="1"/>
          <p:nvPr/>
        </p:nvSpPr>
        <p:spPr>
          <a:xfrm>
            <a:off x="1554480" y="4325112"/>
            <a:ext cx="2377440" cy="457200"/>
          </a:xfrm>
          <a:prstGeom prst="rect">
            <a:avLst/>
          </a:prstGeom>
          <a:noFill/>
          <a:ln/>
        </p:spPr>
        <p:txBody>
          <a:bodyPr wrap="square" lIns="0" tIns="0" rIns="0" bIns="0" rtlCol="0" anchor="ctr"/>
          <a:lstStyle/>
          <a:p>
            <a:pPr marL="0" indent="0">
              <a:buNone/>
            </a:pPr>
            <a:r>
              <a:rPr lang="en-US" sz="1700" b="1" dirty="0">
                <a:solidFill>
                  <a:schemeClr val="tx1"/>
                </a:solidFill>
              </a:rPr>
              <a:t>Summarise and report</a:t>
            </a:r>
            <a:endParaRPr lang="en-US" sz="1700" dirty="0"/>
          </a:p>
        </p:txBody>
      </p:sp>
      <p:sp>
        <p:nvSpPr>
          <p:cNvPr id="23" name="Text 17"/>
          <p:cNvSpPr txBox="1"/>
          <p:nvPr/>
        </p:nvSpPr>
        <p:spPr>
          <a:xfrm>
            <a:off x="822960" y="4983480"/>
            <a:ext cx="3017520" cy="822960"/>
          </a:xfrm>
          <a:prstGeom prst="rect">
            <a:avLst/>
          </a:prstGeom>
          <a:noFill/>
          <a:ln/>
        </p:spPr>
        <p:txBody>
          <a:bodyPr wrap="square" lIns="0" tIns="0" rIns="0" bIns="0" rtlCol="0" anchor="t"/>
          <a:lstStyle/>
          <a:p>
            <a:pPr marL="0" indent="0">
              <a:buNone/>
            </a:pPr>
            <a:r>
              <a:rPr lang="en-US" sz="1400" dirty="0">
                <a:solidFill>
                  <a:schemeClr val="tx2"/>
                </a:solidFill>
              </a:rPr>
              <a:t>Group, pivot, chart, and write formatted Excel outputs</a:t>
            </a:r>
            <a:endParaRPr lang="en-US" sz="1400" dirty="0"/>
          </a:p>
        </p:txBody>
      </p:sp>
      <p:sp>
        <p:nvSpPr>
          <p:cNvPr id="24" name="capability Code when needed"/>
          <p:cNvSpPr/>
          <p:nvPr/>
        </p:nvSpPr>
        <p:spPr>
          <a:xfrm>
            <a:off x="4297680" y="3977640"/>
            <a:ext cx="3520440" cy="1965960"/>
          </a:xfrm>
          <a:prstGeom prst="rect">
            <a:avLst/>
          </a:prstGeom>
          <a:solidFill>
            <a:schemeClr val="bg2"/>
          </a:solidFill>
          <a:ln/>
        </p:spPr>
      </p:sp>
      <p:sp>
        <p:nvSpPr>
          <p:cNvPr id="25" name="capability 5 circle"/>
          <p:cNvSpPr/>
          <p:nvPr/>
        </p:nvSpPr>
        <p:spPr>
          <a:xfrm>
            <a:off x="4572000" y="4251960"/>
            <a:ext cx="594360" cy="594360"/>
          </a:xfrm>
          <a:prstGeom prst="ellipse">
            <a:avLst/>
          </a:prstGeom>
          <a:solidFill>
            <a:schemeClr val="accent1"/>
          </a:solidFill>
          <a:ln/>
        </p:spPr>
      </p:sp>
      <p:pic>
        <p:nvPicPr>
          <p:cNvPr id="26" name="capability 5 icon" descr="preencoded.png"/>
          <p:cNvPicPr>
            <a:picLocks noChangeAspect="1"/>
          </p:cNvPicPr>
          <p:nvPr/>
        </p:nvPicPr>
        <p:blipFill>
          <a:blip r:embed="rId7"/>
          <a:stretch>
            <a:fillRect/>
          </a:stretch>
        </p:blipFill>
        <p:spPr>
          <a:xfrm>
            <a:off x="4726534" y="4406494"/>
            <a:ext cx="285293" cy="285293"/>
          </a:xfrm>
          <a:prstGeom prst="rect">
            <a:avLst/>
          </a:prstGeom>
        </p:spPr>
      </p:pic>
      <p:sp>
        <p:nvSpPr>
          <p:cNvPr id="27" name="Text 20"/>
          <p:cNvSpPr txBox="1"/>
          <p:nvPr/>
        </p:nvSpPr>
        <p:spPr>
          <a:xfrm>
            <a:off x="5303520" y="4325112"/>
            <a:ext cx="2377440" cy="457200"/>
          </a:xfrm>
          <a:prstGeom prst="rect">
            <a:avLst/>
          </a:prstGeom>
          <a:noFill/>
          <a:ln/>
        </p:spPr>
        <p:txBody>
          <a:bodyPr wrap="square" lIns="0" tIns="0" rIns="0" bIns="0" rtlCol="0" anchor="ctr"/>
          <a:lstStyle/>
          <a:p>
            <a:pPr marL="0" indent="0">
              <a:buNone/>
            </a:pPr>
            <a:r>
              <a:rPr lang="en-US" sz="1700" b="1" dirty="0">
                <a:solidFill>
                  <a:schemeClr val="tx1"/>
                </a:solidFill>
              </a:rPr>
              <a:t>Code when needed</a:t>
            </a:r>
            <a:endParaRPr lang="en-US" sz="1700" dirty="0"/>
          </a:p>
        </p:txBody>
      </p:sp>
      <p:sp>
        <p:nvSpPr>
          <p:cNvPr id="28" name="Text 21"/>
          <p:cNvSpPr txBox="1"/>
          <p:nvPr/>
        </p:nvSpPr>
        <p:spPr>
          <a:xfrm>
            <a:off x="4572000" y="4983480"/>
            <a:ext cx="3017520" cy="822960"/>
          </a:xfrm>
          <a:prstGeom prst="rect">
            <a:avLst/>
          </a:prstGeom>
          <a:noFill/>
          <a:ln/>
        </p:spPr>
        <p:txBody>
          <a:bodyPr wrap="square" lIns="0" tIns="0" rIns="0" bIns="0" rtlCol="0" anchor="t"/>
          <a:lstStyle/>
          <a:p>
            <a:pPr marL="0" indent="0">
              <a:buNone/>
            </a:pPr>
            <a:r>
              <a:rPr lang="en-US" sz="1400" dirty="0">
                <a:solidFill>
                  <a:schemeClr val="tx2"/>
                </a:solidFill>
              </a:rPr>
              <a:t>Drop in Python, R or SQL for anything the nodes can't do</a:t>
            </a:r>
            <a:endParaRPr lang="en-US" sz="1400" dirty="0"/>
          </a:p>
        </p:txBody>
      </p:sp>
      <p:sp>
        <p:nvSpPr>
          <p:cNvPr id="29" name="capability AI assistant (K-AI)"/>
          <p:cNvSpPr/>
          <p:nvPr/>
        </p:nvSpPr>
        <p:spPr>
          <a:xfrm>
            <a:off x="8046720" y="3977640"/>
            <a:ext cx="3520440" cy="1965960"/>
          </a:xfrm>
          <a:prstGeom prst="rect">
            <a:avLst/>
          </a:prstGeom>
          <a:solidFill>
            <a:schemeClr val="bg2"/>
          </a:solidFill>
          <a:ln/>
        </p:spPr>
      </p:sp>
      <p:sp>
        <p:nvSpPr>
          <p:cNvPr id="30" name="capability 6 circle"/>
          <p:cNvSpPr/>
          <p:nvPr/>
        </p:nvSpPr>
        <p:spPr>
          <a:xfrm>
            <a:off x="8321040" y="4251960"/>
            <a:ext cx="594360" cy="594360"/>
          </a:xfrm>
          <a:prstGeom prst="ellipse">
            <a:avLst/>
          </a:prstGeom>
          <a:solidFill>
            <a:schemeClr val="accent1"/>
          </a:solidFill>
          <a:ln/>
        </p:spPr>
      </p:sp>
      <p:pic>
        <p:nvPicPr>
          <p:cNvPr id="31" name="capability 6 icon" descr="preencoded.png"/>
          <p:cNvPicPr>
            <a:picLocks noChangeAspect="1"/>
          </p:cNvPicPr>
          <p:nvPr/>
        </p:nvPicPr>
        <p:blipFill>
          <a:blip r:embed="rId8"/>
          <a:stretch>
            <a:fillRect/>
          </a:stretch>
        </p:blipFill>
        <p:spPr>
          <a:xfrm>
            <a:off x="8475574" y="4406494"/>
            <a:ext cx="285293" cy="285293"/>
          </a:xfrm>
          <a:prstGeom prst="rect">
            <a:avLst/>
          </a:prstGeom>
        </p:spPr>
      </p:pic>
      <p:sp>
        <p:nvSpPr>
          <p:cNvPr id="32" name="Text 24"/>
          <p:cNvSpPr txBox="1"/>
          <p:nvPr/>
        </p:nvSpPr>
        <p:spPr>
          <a:xfrm>
            <a:off x="9052560" y="4325112"/>
            <a:ext cx="2377440" cy="457200"/>
          </a:xfrm>
          <a:prstGeom prst="rect">
            <a:avLst/>
          </a:prstGeom>
          <a:noFill/>
          <a:ln/>
        </p:spPr>
        <p:txBody>
          <a:bodyPr wrap="square" lIns="0" tIns="0" rIns="0" bIns="0" rtlCol="0" anchor="ctr"/>
          <a:lstStyle/>
          <a:p>
            <a:pPr marL="0" indent="0">
              <a:buNone/>
            </a:pPr>
            <a:r>
              <a:rPr lang="en-US" sz="1700" b="1" dirty="0">
                <a:solidFill>
                  <a:schemeClr val="tx1"/>
                </a:solidFill>
              </a:rPr>
              <a:t>AI assistant (K-AI)</a:t>
            </a:r>
            <a:endParaRPr lang="en-US" sz="1700" dirty="0"/>
          </a:p>
        </p:txBody>
      </p:sp>
      <p:sp>
        <p:nvSpPr>
          <p:cNvPr id="33" name="Text 25"/>
          <p:cNvSpPr txBox="1"/>
          <p:nvPr/>
        </p:nvSpPr>
        <p:spPr>
          <a:xfrm>
            <a:off x="8321040" y="4983480"/>
            <a:ext cx="3017520" cy="822960"/>
          </a:xfrm>
          <a:prstGeom prst="rect">
            <a:avLst/>
          </a:prstGeom>
          <a:noFill/>
          <a:ln/>
        </p:spPr>
        <p:txBody>
          <a:bodyPr wrap="square" lIns="0" tIns="0" rIns="0" bIns="0" rtlCol="0" anchor="t"/>
          <a:lstStyle/>
          <a:p>
            <a:pPr marL="0" indent="0">
              <a:buNone/>
            </a:pPr>
            <a:r>
              <a:rPr lang="en-US" sz="1400" dirty="0">
                <a:solidFill>
                  <a:schemeClr val="tx2"/>
                </a:solidFill>
              </a:rPr>
              <a:t>Ask in plain English for help building steps or writing expressions</a:t>
            </a:r>
            <a:endParaRPr lang="en-US" sz="1400" dirty="0"/>
          </a:p>
        </p:txBody>
      </p:sp>
      <p:sp>
        <p:nvSpPr>
          <p:cNvPr id="34"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7D7D"/>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9144000" cy="320040"/>
          </a:xfrm>
          <a:prstGeom prst="rect">
            <a:avLst/>
          </a:prstGeom>
          <a:noFill/>
          <a:ln/>
        </p:spPr>
        <p:txBody>
          <a:bodyPr wrap="square" lIns="0" tIns="0" rIns="0" bIns="0" rtlCol="0"/>
          <a:lstStyle/>
          <a:p>
            <a:pPr marL="0" indent="0" algn="l">
              <a:buNone/>
            </a:pPr>
            <a:r>
              <a:rPr lang="en-US" sz="1200" b="1" kern="0" spc="200" dirty="0">
                <a:solidFill>
                  <a:schemeClr val="accent2"/>
                </a:solidFill>
              </a:rPr>
              <a:t>01 · RELEVANCE</a:t>
            </a:r>
            <a:endParaRPr lang="en-US" sz="1200" dirty="0"/>
          </a:p>
        </p:txBody>
      </p:sp>
      <p:sp>
        <p:nvSpPr>
          <p:cNvPr id="3" name="Text 0"/>
          <p:cNvSpPr>
            <a:spLocks noGrp="1"/>
          </p:cNvSpPr>
          <p:nvPr>
            <p:ph type="title" idx="101" hasCustomPrompt="1"/>
          </p:nvPr>
        </p:nvSpPr>
        <p:spPr>
          <a:xfrm>
            <a:off x="548640" y="731520"/>
            <a:ext cx="11064240" cy="822960"/>
          </a:xfrm>
          <a:prstGeom prst="rect">
            <a:avLst/>
          </a:prstGeom>
          <a:noFill/>
          <a:ln/>
        </p:spPr>
        <p:txBody>
          <a:bodyPr wrap="square" lIns="0" tIns="0" rIns="0" bIns="0" rtlCol="0" anchor="t"/>
          <a:lstStyle/>
          <a:p>
            <a:pPr marL="0" indent="0" algn="l">
              <a:buNone/>
            </a:pPr>
            <a:r>
              <a:rPr lang="en-US" sz="3000" b="1" dirty="0">
                <a:solidFill>
                  <a:schemeClr val="tx1"/>
                </a:solidFill>
                <a:latin typeface="Georgia" pitchFamily="34" charset="0"/>
                <a:ea typeface="Georgia" pitchFamily="34" charset="-122"/>
                <a:cs typeface="Georgia" pitchFamily="34" charset="-120"/>
              </a:rPr>
              <a:t>Where it could help the Tax team</a:t>
            </a:r>
            <a:endParaRPr lang="en-US" sz="3000" dirty="0"/>
          </a:p>
        </p:txBody>
      </p:sp>
      <p:graphicFrame>
        <p:nvGraphicFramePr>
          <p:cNvPr id="7" name="table"/>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3291840">
                  <a:extLst>
                    <a:ext uri="{9D8B030D-6E8A-4147-A177-3AD203B41FA5}">
                      <a16:colId xmlns:a16="http://schemas.microsoft.com/office/drawing/2014/main" val="20000"/>
                    </a:ext>
                  </a:extLst>
                </a:gridCol>
                <a:gridCol w="7772400">
                  <a:extLst>
                    <a:ext uri="{9D8B030D-6E8A-4147-A177-3AD203B41FA5}">
                      <a16:colId xmlns:a16="http://schemas.microsoft.com/office/drawing/2014/main" val="20001"/>
                    </a:ext>
                  </a:extLst>
                </a:gridCol>
              </a:tblGrid>
              <a:tr h="502920">
                <a:tc>
                  <a:txBody>
                    <a:bodyPr/>
                    <a:lstStyle/>
                    <a:p>
                      <a:pPr marL="0" indent="0">
                        <a:buNone/>
                      </a:pPr>
                      <a:r>
                        <a:rPr lang="en-US" sz="1400" b="1" dirty="0">
                          <a:solidFill>
                            <a:schemeClr val="bg1"/>
                          </a:solidFill>
                          <a:latin typeface="Arial" pitchFamily="34" charset="0"/>
                          <a:ea typeface="Arial" pitchFamily="34" charset="-122"/>
                          <a:cs typeface="Arial" pitchFamily="34" charset="-120"/>
                        </a:rPr>
                        <a:t>Recurring task</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Arial" pitchFamily="34" charset="0"/>
                          <a:ea typeface="Arial" pitchFamily="34" charset="-122"/>
                          <a:cs typeface="Arial" pitchFamily="34" charset="-120"/>
                        </a:rPr>
                        <a:t>What a KNIME workflow would do</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chemeClr val="tx1"/>
                          </a:solidFill>
                          <a:latin typeface="Arial" pitchFamily="34" charset="0"/>
                          <a:ea typeface="Arial" pitchFamily="34" charset="-122"/>
                          <a:cs typeface="Arial" pitchFamily="34" charset="-120"/>
                        </a:rPr>
                        <a:t>GST / TDS reconciliation</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Match books vs. portal data (e.g. GSTR-2B, 26AS) and list the mismatches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02920">
                <a:tc>
                  <a:txBody>
                    <a:bodyPr/>
                    <a:lstStyle/>
                    <a:p>
                      <a:pPr marL="0" indent="0">
                        <a:buNone/>
                      </a:pPr>
                      <a:r>
                        <a:rPr lang="en-US" sz="1400" dirty="0">
                          <a:solidFill>
                            <a:schemeClr val="tx1"/>
                          </a:solidFill>
                          <a:latin typeface="Arial" pitchFamily="34" charset="0"/>
                          <a:ea typeface="Arial" pitchFamily="34" charset="-122"/>
                          <a:cs typeface="Arial" pitchFamily="34" charset="-120"/>
                        </a:rPr>
                        <a:t>Consolidating Excel files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Read every entity's workbook from a folder and stack them into one table</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02920">
                <a:tc>
                  <a:txBody>
                    <a:bodyPr/>
                    <a:lstStyle/>
                    <a:p>
                      <a:pPr marL="0" indent="0">
                        <a:buNone/>
                      </a:pPr>
                      <a:r>
                        <a:rPr lang="en-US" sz="1400" dirty="0">
                          <a:solidFill>
                            <a:schemeClr val="tx1"/>
                          </a:solidFill>
                          <a:latin typeface="Arial" pitchFamily="34" charset="0"/>
                          <a:ea typeface="Arial" pitchFamily="34" charset="-122"/>
                          <a:cs typeface="Arial" pitchFamily="34" charset="-120"/>
                        </a:rPr>
                        <a:t>Data clean-up</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Standardise GSTINs, PANs, dates and vendor names before analysis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2920">
                <a:tc>
                  <a:txBody>
                    <a:bodyPr/>
                    <a:lstStyle/>
                    <a:p>
                      <a:pPr marL="0" indent="0">
                        <a:buNone/>
                      </a:pPr>
                      <a:r>
                        <a:rPr lang="en-US" sz="1400" dirty="0">
                          <a:solidFill>
                            <a:schemeClr val="tx1"/>
                          </a:solidFill>
                          <a:latin typeface="Arial" pitchFamily="34" charset="0"/>
                          <a:ea typeface="Arial" pitchFamily="34" charset="-122"/>
                          <a:cs typeface="Arial" pitchFamily="34" charset="-120"/>
                        </a:rPr>
                        <a:t>Ledger-to-return tie-outs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Group by period, account or rate and compare totals automatically</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02920">
                <a:tc>
                  <a:txBody>
                    <a:bodyPr/>
                    <a:lstStyle/>
                    <a:p>
                      <a:pPr marL="0" indent="0">
                        <a:buNone/>
                      </a:pPr>
                      <a:r>
                        <a:rPr lang="en-US" sz="1400" dirty="0">
                          <a:solidFill>
                            <a:schemeClr val="tx1"/>
                          </a:solidFill>
                          <a:latin typeface="Arial" pitchFamily="34" charset="0"/>
                          <a:ea typeface="Arial" pitchFamily="34" charset="-122"/>
                          <a:cs typeface="Arial" pitchFamily="34" charset="-120"/>
                        </a:rPr>
                        <a:t>Month-end repeatability</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Same steps every month, just point it at the new files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502920">
                <a:tc>
                  <a:txBody>
                    <a:bodyPr/>
                    <a:lstStyle/>
                    <a:p>
                      <a:pPr marL="0" indent="0">
                        <a:buNone/>
                      </a:pPr>
                      <a:r>
                        <a:rPr lang="en-US" sz="1400" dirty="0">
                          <a:solidFill>
                            <a:schemeClr val="tx1"/>
                          </a:solidFill>
                          <a:latin typeface="Arial" pitchFamily="34" charset="0"/>
                          <a:ea typeface="Arial" pitchFamily="34" charset="-122"/>
                          <a:cs typeface="Arial" pitchFamily="34" charset="-120"/>
                        </a:rPr>
                        <a:t>Audit trail</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The workflow itself documents every transformation step</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bl>
          </a:graphicData>
        </a:graphic>
      </p:graphicFrame>
      <p:sp>
        <p:nvSpPr>
          <p:cNvPr id="5" name="Text 2"/>
          <p:cNvSpPr txBox="1"/>
          <p:nvPr/>
        </p:nvSpPr>
        <p:spPr>
          <a:xfrm>
            <a:off x="548640" y="5577840"/>
            <a:ext cx="11064240" cy="320040"/>
          </a:xfrm>
          <a:prstGeom prst="rect">
            <a:avLst/>
          </a:prstGeom>
          <a:noFill/>
          <a:ln/>
        </p:spPr>
        <p:txBody>
          <a:bodyPr wrap="square" lIns="0" tIns="0" rIns="0" bIns="0" rtlCol="0" anchor="t"/>
          <a:lstStyle/>
          <a:p>
            <a:pPr marL="0" indent="0">
              <a:buNone/>
            </a:pPr>
            <a:r>
              <a:rPr lang="en-US" sz="1200" i="1" dirty="0">
                <a:solidFill>
                  <a:schemeClr val="accent6"/>
                </a:solidFill>
              </a:rPr>
              <a:t>Candidate use cases to validate with the team, not tested yet</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7D7D"/>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9144000" cy="320040"/>
          </a:xfrm>
          <a:prstGeom prst="rect">
            <a:avLst/>
          </a:prstGeom>
          <a:noFill/>
          <a:ln/>
        </p:spPr>
        <p:txBody>
          <a:bodyPr wrap="square" lIns="0" tIns="0" rIns="0" bIns="0" rtlCol="0"/>
          <a:lstStyle/>
          <a:p>
            <a:pPr marL="0" indent="0" algn="l">
              <a:buNone/>
            </a:pPr>
            <a:r>
              <a:rPr lang="en-US" sz="1200" b="1" kern="0" spc="200" dirty="0">
                <a:solidFill>
                  <a:schemeClr val="accent2"/>
                </a:solidFill>
              </a:rPr>
              <a:t>01 · LIMITATIONS</a:t>
            </a:r>
            <a:endParaRPr lang="en-US" sz="1200" dirty="0"/>
          </a:p>
        </p:txBody>
      </p:sp>
      <p:sp>
        <p:nvSpPr>
          <p:cNvPr id="3" name="Text 0"/>
          <p:cNvSpPr>
            <a:spLocks noGrp="1"/>
          </p:cNvSpPr>
          <p:nvPr>
            <p:ph type="title" idx="101" hasCustomPrompt="1"/>
          </p:nvPr>
        </p:nvSpPr>
        <p:spPr>
          <a:xfrm>
            <a:off x="548640" y="731520"/>
            <a:ext cx="11064240" cy="822960"/>
          </a:xfrm>
          <a:prstGeom prst="rect">
            <a:avLst/>
          </a:prstGeom>
          <a:noFill/>
          <a:ln/>
        </p:spPr>
        <p:txBody>
          <a:bodyPr wrap="square" lIns="0" tIns="0" rIns="0" bIns="0" rtlCol="0" anchor="t"/>
          <a:lstStyle/>
          <a:p>
            <a:pPr marL="0" indent="0" algn="l">
              <a:buNone/>
            </a:pPr>
            <a:r>
              <a:rPr lang="en-US" sz="3000" b="1" dirty="0">
                <a:solidFill>
                  <a:schemeClr val="tx1"/>
                </a:solidFill>
                <a:latin typeface="Georgia" pitchFamily="34" charset="0"/>
                <a:ea typeface="Georgia" pitchFamily="34" charset="-122"/>
                <a:cs typeface="Georgia" pitchFamily="34" charset="-120"/>
              </a:rPr>
              <a:t>What you'll notice when you use it</a:t>
            </a:r>
            <a:endParaRPr lang="en-US" sz="3000" dirty="0"/>
          </a:p>
        </p:txBody>
      </p:sp>
      <p:sp>
        <p:nvSpPr>
          <p:cNvPr id="4" name="limit 1 circle"/>
          <p:cNvSpPr/>
          <p:nvPr/>
        </p:nvSpPr>
        <p:spPr>
          <a:xfrm>
            <a:off x="548640" y="1828800"/>
            <a:ext cx="640080" cy="640080"/>
          </a:xfrm>
          <a:prstGeom prst="ellipse">
            <a:avLst/>
          </a:prstGeom>
          <a:solidFill>
            <a:schemeClr val="accent1"/>
          </a:solidFill>
          <a:ln/>
        </p:spPr>
      </p:sp>
      <p:pic>
        <p:nvPicPr>
          <p:cNvPr id="5" name="limit 1 icon" descr="preencoded.png"/>
          <p:cNvPicPr>
            <a:picLocks noChangeAspect="1"/>
          </p:cNvPicPr>
          <p:nvPr/>
        </p:nvPicPr>
        <p:blipFill>
          <a:blip r:embed="rId3"/>
          <a:stretch>
            <a:fillRect/>
          </a:stretch>
        </p:blipFill>
        <p:spPr>
          <a:xfrm>
            <a:off x="715061" y="1995221"/>
            <a:ext cx="307238" cy="307238"/>
          </a:xfrm>
          <a:prstGeom prst="rect">
            <a:avLst/>
          </a:prstGeom>
        </p:spPr>
      </p:pic>
      <p:sp>
        <p:nvSpPr>
          <p:cNvPr id="6" name="Text 3"/>
          <p:cNvSpPr txBox="1"/>
          <p:nvPr/>
        </p:nvSpPr>
        <p:spPr>
          <a:xfrm>
            <a:off x="1417320" y="1783080"/>
            <a:ext cx="4480560" cy="365760"/>
          </a:xfrm>
          <a:prstGeom prst="rect">
            <a:avLst/>
          </a:prstGeom>
          <a:noFill/>
          <a:ln/>
        </p:spPr>
        <p:txBody>
          <a:bodyPr wrap="square" lIns="0" tIns="0" rIns="0" bIns="0" rtlCol="0" anchor="t"/>
          <a:lstStyle/>
          <a:p>
            <a:pPr marL="0" indent="0">
              <a:buNone/>
            </a:pPr>
            <a:r>
              <a:rPr lang="en-US" sz="1700" b="1" dirty="0">
                <a:solidFill>
                  <a:schemeClr val="tx1"/>
                </a:solidFill>
              </a:rPr>
              <a:t>Learning curve</a:t>
            </a:r>
            <a:endParaRPr lang="en-US" sz="1700" dirty="0"/>
          </a:p>
        </p:txBody>
      </p:sp>
      <p:sp>
        <p:nvSpPr>
          <p:cNvPr id="7" name="Text 4"/>
          <p:cNvSpPr txBox="1"/>
          <p:nvPr/>
        </p:nvSpPr>
        <p:spPr>
          <a:xfrm>
            <a:off x="1417320" y="2194560"/>
            <a:ext cx="4480560" cy="777240"/>
          </a:xfrm>
          <a:prstGeom prst="rect">
            <a:avLst/>
          </a:prstGeom>
          <a:noFill/>
          <a:ln/>
        </p:spPr>
        <p:txBody>
          <a:bodyPr wrap="square" lIns="0" tIns="0" rIns="0" bIns="0" rtlCol="0" anchor="t"/>
          <a:lstStyle/>
          <a:p>
            <a:pPr marL="0" indent="0">
              <a:buNone/>
            </a:pPr>
            <a:r>
              <a:rPr lang="en-US" sz="1400" dirty="0">
                <a:solidFill>
                  <a:schemeClr val="tx2"/>
                </a:solidFill>
              </a:rPr>
              <a:t>Thousands of nodes, often several that do nearly the same thing</a:t>
            </a:r>
            <a:endParaRPr lang="en-US" sz="1400" dirty="0"/>
          </a:p>
        </p:txBody>
      </p:sp>
      <p:sp>
        <p:nvSpPr>
          <p:cNvPr id="8" name="limit 2 circle"/>
          <p:cNvSpPr/>
          <p:nvPr/>
        </p:nvSpPr>
        <p:spPr>
          <a:xfrm>
            <a:off x="6172200" y="1828800"/>
            <a:ext cx="640080" cy="640080"/>
          </a:xfrm>
          <a:prstGeom prst="ellipse">
            <a:avLst/>
          </a:prstGeom>
          <a:solidFill>
            <a:schemeClr val="accent1"/>
          </a:solidFill>
          <a:ln/>
        </p:spPr>
      </p:sp>
      <p:pic>
        <p:nvPicPr>
          <p:cNvPr id="9" name="limit 2 icon" descr="preencoded.png"/>
          <p:cNvPicPr>
            <a:picLocks noChangeAspect="1"/>
          </p:cNvPicPr>
          <p:nvPr/>
        </p:nvPicPr>
        <p:blipFill>
          <a:blip r:embed="rId4"/>
          <a:stretch>
            <a:fillRect/>
          </a:stretch>
        </p:blipFill>
        <p:spPr>
          <a:xfrm>
            <a:off x="6338621" y="1995221"/>
            <a:ext cx="307238" cy="307238"/>
          </a:xfrm>
          <a:prstGeom prst="rect">
            <a:avLst/>
          </a:prstGeom>
        </p:spPr>
      </p:pic>
      <p:sp>
        <p:nvSpPr>
          <p:cNvPr id="10" name="Text 6"/>
          <p:cNvSpPr txBox="1"/>
          <p:nvPr/>
        </p:nvSpPr>
        <p:spPr>
          <a:xfrm>
            <a:off x="7040880" y="1783080"/>
            <a:ext cx="4480560" cy="365760"/>
          </a:xfrm>
          <a:prstGeom prst="rect">
            <a:avLst/>
          </a:prstGeom>
          <a:noFill/>
          <a:ln/>
        </p:spPr>
        <p:txBody>
          <a:bodyPr wrap="square" lIns="0" tIns="0" rIns="0" bIns="0" rtlCol="0" anchor="t"/>
          <a:lstStyle/>
          <a:p>
            <a:pPr marL="0" indent="0">
              <a:buNone/>
            </a:pPr>
            <a:r>
              <a:rPr lang="en-US" sz="1700" b="1" dirty="0">
                <a:solidFill>
                  <a:schemeClr val="tx1"/>
                </a:solidFill>
              </a:rPr>
              <a:t>Several formula syntaxes</a:t>
            </a:r>
            <a:endParaRPr lang="en-US" sz="1700" dirty="0"/>
          </a:p>
        </p:txBody>
      </p:sp>
      <p:sp>
        <p:nvSpPr>
          <p:cNvPr id="11" name="Text 7"/>
          <p:cNvSpPr txBox="1"/>
          <p:nvPr/>
        </p:nvSpPr>
        <p:spPr>
          <a:xfrm>
            <a:off x="7040880" y="2194560"/>
            <a:ext cx="4480560" cy="777240"/>
          </a:xfrm>
          <a:prstGeom prst="rect">
            <a:avLst/>
          </a:prstGeom>
          <a:noFill/>
          <a:ln/>
        </p:spPr>
        <p:txBody>
          <a:bodyPr wrap="square" lIns="0" tIns="0" rIns="0" bIns="0" rtlCol="0" anchor="t"/>
          <a:lstStyle/>
          <a:p>
            <a:pPr marL="0" indent="0">
              <a:buNone/>
            </a:pPr>
            <a:r>
              <a:rPr lang="en-US" sz="1400" dirty="0">
                <a:solidFill>
                  <a:schemeClr val="tx2"/>
                </a:solidFill>
              </a:rPr>
              <a:t>String, math and rule nodes each have their own; simple IF logic can take extra nodes</a:t>
            </a:r>
            <a:endParaRPr lang="en-US" sz="1400" dirty="0"/>
          </a:p>
        </p:txBody>
      </p:sp>
      <p:sp>
        <p:nvSpPr>
          <p:cNvPr id="12" name="limit 3 circle"/>
          <p:cNvSpPr/>
          <p:nvPr/>
        </p:nvSpPr>
        <p:spPr>
          <a:xfrm>
            <a:off x="548640" y="3246120"/>
            <a:ext cx="640080" cy="640080"/>
          </a:xfrm>
          <a:prstGeom prst="ellipse">
            <a:avLst/>
          </a:prstGeom>
          <a:solidFill>
            <a:schemeClr val="accent1"/>
          </a:solidFill>
          <a:ln/>
        </p:spPr>
      </p:sp>
      <p:pic>
        <p:nvPicPr>
          <p:cNvPr id="13" name="limit 3 icon" descr="preencoded.png"/>
          <p:cNvPicPr>
            <a:picLocks noChangeAspect="1"/>
          </p:cNvPicPr>
          <p:nvPr/>
        </p:nvPicPr>
        <p:blipFill>
          <a:blip r:embed="rId5"/>
          <a:stretch>
            <a:fillRect/>
          </a:stretch>
        </p:blipFill>
        <p:spPr>
          <a:xfrm>
            <a:off x="715061" y="3412541"/>
            <a:ext cx="307238" cy="307238"/>
          </a:xfrm>
          <a:prstGeom prst="rect">
            <a:avLst/>
          </a:prstGeom>
        </p:spPr>
      </p:pic>
      <p:sp>
        <p:nvSpPr>
          <p:cNvPr id="14" name="Text 9"/>
          <p:cNvSpPr txBox="1"/>
          <p:nvPr/>
        </p:nvSpPr>
        <p:spPr>
          <a:xfrm>
            <a:off x="1417320" y="3200400"/>
            <a:ext cx="4480560" cy="365760"/>
          </a:xfrm>
          <a:prstGeom prst="rect">
            <a:avLst/>
          </a:prstGeom>
          <a:noFill/>
          <a:ln/>
        </p:spPr>
        <p:txBody>
          <a:bodyPr wrap="square" lIns="0" tIns="0" rIns="0" bIns="0" rtlCol="0" anchor="t"/>
          <a:lstStyle/>
          <a:p>
            <a:pPr marL="0" indent="0">
              <a:buNone/>
            </a:pPr>
            <a:r>
              <a:rPr lang="en-US" sz="1700" b="1" dirty="0">
                <a:solidFill>
                  <a:schemeClr val="tx1"/>
                </a:solidFill>
              </a:rPr>
              <a:t>Heavy on memory</a:t>
            </a:r>
            <a:endParaRPr lang="en-US" sz="1700" dirty="0"/>
          </a:p>
        </p:txBody>
      </p:sp>
      <p:sp>
        <p:nvSpPr>
          <p:cNvPr id="15" name="Text 10"/>
          <p:cNvSpPr txBox="1"/>
          <p:nvPr/>
        </p:nvSpPr>
        <p:spPr>
          <a:xfrm>
            <a:off x="1417320" y="3611880"/>
            <a:ext cx="4480560" cy="777240"/>
          </a:xfrm>
          <a:prstGeom prst="rect">
            <a:avLst/>
          </a:prstGeom>
          <a:noFill/>
          <a:ln/>
        </p:spPr>
        <p:txBody>
          <a:bodyPr wrap="square" lIns="0" tIns="0" rIns="0" bIns="0" rtlCol="0" anchor="t"/>
          <a:lstStyle/>
          <a:p>
            <a:pPr marL="0" indent="0">
              <a:buNone/>
            </a:pPr>
            <a:r>
              <a:rPr lang="en-US" sz="1400" dirty="0">
                <a:solidFill>
                  <a:schemeClr val="tx2"/>
                </a:solidFill>
              </a:rPr>
              <a:t>Java-based. Large files need the memory limit raised in knime.ini</a:t>
            </a:r>
            <a:endParaRPr lang="en-US" sz="1400" dirty="0"/>
          </a:p>
        </p:txBody>
      </p:sp>
      <p:sp>
        <p:nvSpPr>
          <p:cNvPr id="16" name="limit 4 circle"/>
          <p:cNvSpPr/>
          <p:nvPr/>
        </p:nvSpPr>
        <p:spPr>
          <a:xfrm>
            <a:off x="6172200" y="3246120"/>
            <a:ext cx="640080" cy="640080"/>
          </a:xfrm>
          <a:prstGeom prst="ellipse">
            <a:avLst/>
          </a:prstGeom>
          <a:solidFill>
            <a:schemeClr val="accent1"/>
          </a:solidFill>
          <a:ln/>
        </p:spPr>
      </p:sp>
      <p:pic>
        <p:nvPicPr>
          <p:cNvPr id="17" name="limit 4 icon" descr="preencoded.png"/>
          <p:cNvPicPr>
            <a:picLocks noChangeAspect="1"/>
          </p:cNvPicPr>
          <p:nvPr/>
        </p:nvPicPr>
        <p:blipFill>
          <a:blip r:embed="rId6"/>
          <a:stretch>
            <a:fillRect/>
          </a:stretch>
        </p:blipFill>
        <p:spPr>
          <a:xfrm>
            <a:off x="6338621" y="3412541"/>
            <a:ext cx="307238" cy="307238"/>
          </a:xfrm>
          <a:prstGeom prst="rect">
            <a:avLst/>
          </a:prstGeom>
        </p:spPr>
      </p:pic>
      <p:sp>
        <p:nvSpPr>
          <p:cNvPr id="18" name="Text 12"/>
          <p:cNvSpPr txBox="1"/>
          <p:nvPr/>
        </p:nvSpPr>
        <p:spPr>
          <a:xfrm>
            <a:off x="7040880" y="3200400"/>
            <a:ext cx="4480560" cy="365760"/>
          </a:xfrm>
          <a:prstGeom prst="rect">
            <a:avLst/>
          </a:prstGeom>
          <a:noFill/>
          <a:ln/>
        </p:spPr>
        <p:txBody>
          <a:bodyPr wrap="square" lIns="0" tIns="0" rIns="0" bIns="0" rtlCol="0" anchor="t"/>
          <a:lstStyle/>
          <a:p>
            <a:pPr marL="0" indent="0">
              <a:buNone/>
            </a:pPr>
            <a:r>
              <a:rPr lang="en-US" sz="1700" b="1" dirty="0">
                <a:solidFill>
                  <a:schemeClr val="tx1"/>
                </a:solidFill>
              </a:rPr>
              <a:t>No scheduling on desktop</a:t>
            </a:r>
            <a:endParaRPr lang="en-US" sz="1700" dirty="0"/>
          </a:p>
        </p:txBody>
      </p:sp>
      <p:sp>
        <p:nvSpPr>
          <p:cNvPr id="19" name="Text 13"/>
          <p:cNvSpPr txBox="1"/>
          <p:nvPr/>
        </p:nvSpPr>
        <p:spPr>
          <a:xfrm>
            <a:off x="7040880" y="3611880"/>
            <a:ext cx="4480560" cy="777240"/>
          </a:xfrm>
          <a:prstGeom prst="rect">
            <a:avLst/>
          </a:prstGeom>
          <a:noFill/>
          <a:ln/>
        </p:spPr>
        <p:txBody>
          <a:bodyPr wrap="square" lIns="0" tIns="0" rIns="0" bIns="0" rtlCol="0" anchor="t"/>
          <a:lstStyle/>
          <a:p>
            <a:pPr marL="0" indent="0">
              <a:buNone/>
            </a:pPr>
            <a:r>
              <a:rPr lang="en-US" sz="1400" dirty="0">
                <a:solidFill>
                  <a:schemeClr val="tx2"/>
                </a:solidFill>
              </a:rPr>
              <a:t>Automated runs, sharing and access control need a paid KNIME Hub</a:t>
            </a:r>
            <a:endParaRPr lang="en-US" sz="1400" dirty="0"/>
          </a:p>
        </p:txBody>
      </p:sp>
      <p:sp>
        <p:nvSpPr>
          <p:cNvPr id="20" name="limit 5 circle"/>
          <p:cNvSpPr/>
          <p:nvPr/>
        </p:nvSpPr>
        <p:spPr>
          <a:xfrm>
            <a:off x="548640" y="4663440"/>
            <a:ext cx="640080" cy="640080"/>
          </a:xfrm>
          <a:prstGeom prst="ellipse">
            <a:avLst/>
          </a:prstGeom>
          <a:solidFill>
            <a:schemeClr val="accent1"/>
          </a:solidFill>
          <a:ln/>
        </p:spPr>
      </p:sp>
      <p:pic>
        <p:nvPicPr>
          <p:cNvPr id="21" name="limit 5 icon" descr="preencoded.png"/>
          <p:cNvPicPr>
            <a:picLocks noChangeAspect="1"/>
          </p:cNvPicPr>
          <p:nvPr/>
        </p:nvPicPr>
        <p:blipFill>
          <a:blip r:embed="rId7"/>
          <a:stretch>
            <a:fillRect/>
          </a:stretch>
        </p:blipFill>
        <p:spPr>
          <a:xfrm>
            <a:off x="715061" y="4829861"/>
            <a:ext cx="307238" cy="307238"/>
          </a:xfrm>
          <a:prstGeom prst="rect">
            <a:avLst/>
          </a:prstGeom>
        </p:spPr>
      </p:pic>
      <p:sp>
        <p:nvSpPr>
          <p:cNvPr id="22" name="Text 15"/>
          <p:cNvSpPr txBox="1"/>
          <p:nvPr/>
        </p:nvSpPr>
        <p:spPr>
          <a:xfrm>
            <a:off x="1417320" y="4617720"/>
            <a:ext cx="4480560" cy="365760"/>
          </a:xfrm>
          <a:prstGeom prst="rect">
            <a:avLst/>
          </a:prstGeom>
          <a:noFill/>
          <a:ln/>
        </p:spPr>
        <p:txBody>
          <a:bodyPr wrap="square" lIns="0" tIns="0" rIns="0" bIns="0" rtlCol="0" anchor="t"/>
          <a:lstStyle/>
          <a:p>
            <a:pPr marL="0" indent="0">
              <a:buNone/>
            </a:pPr>
            <a:r>
              <a:rPr lang="en-US" sz="1700" b="1" dirty="0">
                <a:solidFill>
                  <a:schemeClr val="tx1"/>
                </a:solidFill>
              </a:rPr>
              <a:t>Less polished UI</a:t>
            </a:r>
            <a:endParaRPr lang="en-US" sz="1700" dirty="0"/>
          </a:p>
        </p:txBody>
      </p:sp>
      <p:sp>
        <p:nvSpPr>
          <p:cNvPr id="23" name="Text 16"/>
          <p:cNvSpPr txBox="1"/>
          <p:nvPr/>
        </p:nvSpPr>
        <p:spPr>
          <a:xfrm>
            <a:off x="1417320" y="5029200"/>
            <a:ext cx="4480560" cy="777240"/>
          </a:xfrm>
          <a:prstGeom prst="rect">
            <a:avLst/>
          </a:prstGeom>
          <a:noFill/>
          <a:ln/>
        </p:spPr>
        <p:txBody>
          <a:bodyPr wrap="square" lIns="0" tIns="0" rIns="0" bIns="0" rtlCol="0" anchor="t"/>
          <a:lstStyle/>
          <a:p>
            <a:pPr marL="0" indent="0">
              <a:buNone/>
            </a:pPr>
            <a:r>
              <a:rPr lang="en-US" sz="1400" dirty="0">
                <a:solidFill>
                  <a:schemeClr val="tx2"/>
                </a:solidFill>
              </a:rPr>
              <a:t>Configuration lives in dialogs, slower than Alteryx's side panel</a:t>
            </a:r>
            <a:endParaRPr lang="en-US" sz="1400" dirty="0"/>
          </a:p>
        </p:txBody>
      </p:sp>
      <p:sp>
        <p:nvSpPr>
          <p:cNvPr id="24" name="limit 6 circle"/>
          <p:cNvSpPr/>
          <p:nvPr/>
        </p:nvSpPr>
        <p:spPr>
          <a:xfrm>
            <a:off x="6172200" y="4663440"/>
            <a:ext cx="640080" cy="640080"/>
          </a:xfrm>
          <a:prstGeom prst="ellipse">
            <a:avLst/>
          </a:prstGeom>
          <a:solidFill>
            <a:schemeClr val="accent1"/>
          </a:solidFill>
          <a:ln/>
        </p:spPr>
      </p:sp>
      <p:pic>
        <p:nvPicPr>
          <p:cNvPr id="25" name="limit 6 icon" descr="preencoded.png"/>
          <p:cNvPicPr>
            <a:picLocks noChangeAspect="1"/>
          </p:cNvPicPr>
          <p:nvPr/>
        </p:nvPicPr>
        <p:blipFill>
          <a:blip r:embed="rId8"/>
          <a:stretch>
            <a:fillRect/>
          </a:stretch>
        </p:blipFill>
        <p:spPr>
          <a:xfrm>
            <a:off x="6338621" y="4829861"/>
            <a:ext cx="307238" cy="307238"/>
          </a:xfrm>
          <a:prstGeom prst="rect">
            <a:avLst/>
          </a:prstGeom>
        </p:spPr>
      </p:pic>
      <p:sp>
        <p:nvSpPr>
          <p:cNvPr id="26" name="Text 18"/>
          <p:cNvSpPr txBox="1"/>
          <p:nvPr/>
        </p:nvSpPr>
        <p:spPr>
          <a:xfrm>
            <a:off x="7040880" y="4617720"/>
            <a:ext cx="4480560" cy="365760"/>
          </a:xfrm>
          <a:prstGeom prst="rect">
            <a:avLst/>
          </a:prstGeom>
          <a:noFill/>
          <a:ln/>
        </p:spPr>
        <p:txBody>
          <a:bodyPr wrap="square" lIns="0" tIns="0" rIns="0" bIns="0" rtlCol="0" anchor="t"/>
          <a:lstStyle/>
          <a:p>
            <a:pPr marL="0" indent="0">
              <a:buNone/>
            </a:pPr>
            <a:r>
              <a:rPr lang="en-US" sz="1700" b="1" dirty="0">
                <a:solidFill>
                  <a:schemeClr val="tx1"/>
                </a:solidFill>
              </a:rPr>
              <a:t>Governance is on us</a:t>
            </a:r>
            <a:endParaRPr lang="en-US" sz="1700" dirty="0"/>
          </a:p>
        </p:txBody>
      </p:sp>
      <p:sp>
        <p:nvSpPr>
          <p:cNvPr id="27" name="Text 19"/>
          <p:cNvSpPr txBox="1"/>
          <p:nvPr/>
        </p:nvSpPr>
        <p:spPr>
          <a:xfrm>
            <a:off x="7040880" y="5029200"/>
            <a:ext cx="4480560" cy="777240"/>
          </a:xfrm>
          <a:prstGeom prst="rect">
            <a:avLst/>
          </a:prstGeom>
          <a:noFill/>
          <a:ln/>
        </p:spPr>
        <p:txBody>
          <a:bodyPr wrap="square" lIns="0" tIns="0" rIns="0" bIns="0" rtlCol="0" anchor="t"/>
          <a:lstStyle/>
          <a:p>
            <a:pPr marL="0" indent="0">
              <a:buNone/>
            </a:pPr>
            <a:r>
              <a:rPr lang="en-US" sz="1400" dirty="0">
                <a:solidFill>
                  <a:schemeClr val="tx2"/>
                </a:solidFill>
              </a:rPr>
              <a:t>On desktop, workflows and data sit on individual laptops</a:t>
            </a:r>
            <a:endParaRPr lang="en-US" sz="1400" dirty="0"/>
          </a:p>
        </p:txBody>
      </p:sp>
      <p:sp>
        <p:nvSpPr>
          <p:cNvPr id="28"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7D7D"/>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463040"/>
            <a:ext cx="3657600" cy="1463040"/>
          </a:xfrm>
          <a:prstGeom prst="rect">
            <a:avLst/>
          </a:prstGeom>
          <a:noFill/>
          <a:ln/>
        </p:spPr>
        <p:txBody>
          <a:bodyPr wrap="square" lIns="0" tIns="0" rIns="0" bIns="0" rtlCol="0" anchor="b"/>
          <a:lstStyle/>
          <a:p>
            <a:pPr marL="0" indent="0" algn="l">
              <a:buNone/>
            </a:pPr>
            <a:r>
              <a:rPr lang="en-US" sz="9600" b="1" dirty="0">
                <a:solidFill>
                  <a:schemeClr val="bg1"/>
                </a:solidFill>
                <a:latin typeface="Georgia" pitchFamily="34" charset="0"/>
                <a:ea typeface="Georgia" pitchFamily="34" charset="-122"/>
                <a:cs typeface="Georgia" pitchFamily="34" charset="-120"/>
              </a:rPr>
              <a:t>02</a:t>
            </a:r>
            <a:endParaRPr lang="en-US" sz="9600" dirty="0"/>
          </a:p>
        </p:txBody>
      </p:sp>
      <p:sp>
        <p:nvSpPr>
          <p:cNvPr id="3" name="Text 0"/>
          <p:cNvSpPr>
            <a:spLocks noGrp="1"/>
          </p:cNvSpPr>
          <p:nvPr>
            <p:ph type="title" idx="101" hasCustomPrompt="1"/>
          </p:nvPr>
        </p:nvSpPr>
        <p:spPr>
          <a:xfrm>
            <a:off x="548640" y="3108960"/>
            <a:ext cx="10058400" cy="1280160"/>
          </a:xfrm>
          <a:prstGeom prst="rect">
            <a:avLst/>
          </a:prstGeom>
          <a:noFill/>
          <a:ln/>
        </p:spPr>
        <p:txBody>
          <a:bodyPr wrap="square" lIns="0" tIns="0" rIns="0" bIns="0" rtlCol="0" anchor="t"/>
          <a:lstStyle/>
          <a:p>
            <a:pPr marL="0" indent="0" algn="l">
              <a:buNone/>
            </a:pPr>
            <a:r>
              <a:rPr lang="en-US" sz="4000" b="1" dirty="0">
                <a:solidFill>
                  <a:schemeClr val="bg1"/>
                </a:solidFill>
                <a:latin typeface="Georgia" pitchFamily="34" charset="0"/>
                <a:ea typeface="Georgia" pitchFamily="34" charset="-122"/>
                <a:cs typeface="Georgia" pitchFamily="34" charset="-120"/>
              </a:rPr>
              <a:t>Open source and licensing options</a:t>
            </a:r>
            <a:endParaRPr lang="en-US" sz="4000" dirty="0"/>
          </a:p>
        </p:txBody>
      </p:sp>
      <p:sp>
        <p:nvSpPr>
          <p:cNvPr id="25" name="Slide Number Placeholder 0"/>
          <p:cNvSpPr>
            <a:spLocks noGrp="1"/>
          </p:cNvSpPr>
          <p:nvPr>
            <p:ph type="sldNum" sz="quarter" idx="4294967295"/>
          </p:nvPr>
        </p:nvSpPr>
        <p:spPr>
          <a:xfrm>
            <a:off x="11155680" y="626364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40080"/>
            <a:ext cx="11064240" cy="914400"/>
          </a:xfrm>
          <a:prstGeom prst="rect">
            <a:avLst/>
          </a:prstGeom>
          <a:noFill/>
          <a:ln/>
        </p:spPr>
        <p:txBody>
          <a:bodyPr wrap="square" lIns="0" tIns="0" rIns="0" bIns="0" rtlCol="0" anchor="t"/>
          <a:lstStyle/>
          <a:p>
            <a:pPr marL="0" indent="0" algn="l">
              <a:buNone/>
            </a:pPr>
            <a:r>
              <a:rPr lang="en-US" sz="3600" b="1" dirty="0">
                <a:solidFill>
                  <a:schemeClr val="bg1"/>
                </a:solidFill>
                <a:latin typeface="Georgia" pitchFamily="34" charset="0"/>
                <a:ea typeface="Georgia" pitchFamily="34" charset="-122"/>
                <a:cs typeface="Georgia" pitchFamily="34" charset="-120"/>
              </a:rPr>
              <a:t>Desktop KNIME is free, not a trial version</a:t>
            </a:r>
            <a:endParaRPr lang="en-US" sz="3600" dirty="0"/>
          </a:p>
        </p:txBody>
      </p:sp>
      <p:sp>
        <p:nvSpPr>
          <p:cNvPr id="3" name="stat 1"/>
          <p:cNvSpPr/>
          <p:nvPr/>
        </p:nvSpPr>
        <p:spPr>
          <a:xfrm>
            <a:off x="548640" y="1920240"/>
            <a:ext cx="3520440" cy="2377440"/>
          </a:xfrm>
          <a:prstGeom prst="rect">
            <a:avLst/>
          </a:prstGeom>
          <a:solidFill>
            <a:srgbClr val="3D3D3D"/>
          </a:solidFill>
          <a:ln/>
        </p:spPr>
      </p:sp>
      <p:sp>
        <p:nvSpPr>
          <p:cNvPr id="4" name="Text 2"/>
          <p:cNvSpPr txBox="1"/>
          <p:nvPr/>
        </p:nvSpPr>
        <p:spPr>
          <a:xfrm>
            <a:off x="868680" y="2194560"/>
            <a:ext cx="2926080" cy="914400"/>
          </a:xfrm>
          <a:prstGeom prst="rect">
            <a:avLst/>
          </a:prstGeom>
          <a:noFill/>
          <a:ln/>
        </p:spPr>
        <p:txBody>
          <a:bodyPr wrap="square" lIns="0" tIns="0" rIns="0" bIns="0" rtlCol="0" anchor="t"/>
          <a:lstStyle/>
          <a:p>
            <a:pPr marL="0" indent="0">
              <a:buNone/>
            </a:pPr>
            <a:r>
              <a:rPr lang="en-US" sz="4400" b="1" dirty="0">
                <a:solidFill>
                  <a:schemeClr val="accent1"/>
                </a:solidFill>
                <a:latin typeface="Georgia" pitchFamily="34" charset="0"/>
                <a:ea typeface="Georgia" pitchFamily="34" charset="-122"/>
                <a:cs typeface="Georgia" pitchFamily="34" charset="-120"/>
              </a:rPr>
              <a:t>₹0</a:t>
            </a:r>
            <a:endParaRPr lang="en-US" sz="4400" dirty="0"/>
          </a:p>
        </p:txBody>
      </p:sp>
      <p:sp>
        <p:nvSpPr>
          <p:cNvPr id="5" name="Text 3"/>
          <p:cNvSpPr txBox="1"/>
          <p:nvPr/>
        </p:nvSpPr>
        <p:spPr>
          <a:xfrm>
            <a:off x="868680" y="3200400"/>
            <a:ext cx="2926080" cy="914400"/>
          </a:xfrm>
          <a:prstGeom prst="rect">
            <a:avLst/>
          </a:prstGeom>
          <a:noFill/>
          <a:ln/>
        </p:spPr>
        <p:txBody>
          <a:bodyPr wrap="square" lIns="0" tIns="0" rIns="0" bIns="0" rtlCol="0" anchor="t"/>
          <a:lstStyle/>
          <a:p>
            <a:pPr marL="0" indent="0">
              <a:buNone/>
            </a:pPr>
            <a:r>
              <a:rPr lang="en-US" sz="1500" dirty="0">
                <a:solidFill>
                  <a:srgbClr val="E6E6E6"/>
                </a:solidFill>
              </a:rPr>
              <a:t>No licence fee, no user limit, no expiry</a:t>
            </a:r>
            <a:endParaRPr lang="en-US" sz="1500" dirty="0"/>
          </a:p>
        </p:txBody>
      </p:sp>
      <p:sp>
        <p:nvSpPr>
          <p:cNvPr id="6" name="stat 2"/>
          <p:cNvSpPr/>
          <p:nvPr/>
        </p:nvSpPr>
        <p:spPr>
          <a:xfrm>
            <a:off x="4297680" y="1920240"/>
            <a:ext cx="3520440" cy="2377440"/>
          </a:xfrm>
          <a:prstGeom prst="rect">
            <a:avLst/>
          </a:prstGeom>
          <a:solidFill>
            <a:srgbClr val="3D3D3D"/>
          </a:solidFill>
          <a:ln/>
        </p:spPr>
      </p:sp>
      <p:sp>
        <p:nvSpPr>
          <p:cNvPr id="7" name="Text 5"/>
          <p:cNvSpPr txBox="1"/>
          <p:nvPr/>
        </p:nvSpPr>
        <p:spPr>
          <a:xfrm>
            <a:off x="4617720" y="2194560"/>
            <a:ext cx="2926080" cy="914400"/>
          </a:xfrm>
          <a:prstGeom prst="rect">
            <a:avLst/>
          </a:prstGeom>
          <a:noFill/>
          <a:ln/>
        </p:spPr>
        <p:txBody>
          <a:bodyPr wrap="square" lIns="0" tIns="0" rIns="0" bIns="0" rtlCol="0" anchor="t"/>
          <a:lstStyle/>
          <a:p>
            <a:pPr marL="0" indent="0">
              <a:buNone/>
            </a:pPr>
            <a:r>
              <a:rPr lang="en-US" sz="4400" b="1" dirty="0">
                <a:solidFill>
                  <a:schemeClr val="accent1"/>
                </a:solidFill>
                <a:latin typeface="Georgia" pitchFamily="34" charset="0"/>
                <a:ea typeface="Georgia" pitchFamily="34" charset="-122"/>
                <a:cs typeface="Georgia" pitchFamily="34" charset="-120"/>
              </a:rPr>
              <a:t>No caps</a:t>
            </a:r>
            <a:endParaRPr lang="en-US" sz="4400" dirty="0"/>
          </a:p>
        </p:txBody>
      </p:sp>
      <p:sp>
        <p:nvSpPr>
          <p:cNvPr id="8" name="Text 6"/>
          <p:cNvSpPr txBox="1"/>
          <p:nvPr/>
        </p:nvSpPr>
        <p:spPr>
          <a:xfrm>
            <a:off x="4617720" y="3200400"/>
            <a:ext cx="2926080" cy="914400"/>
          </a:xfrm>
          <a:prstGeom prst="rect">
            <a:avLst/>
          </a:prstGeom>
          <a:noFill/>
          <a:ln/>
        </p:spPr>
        <p:txBody>
          <a:bodyPr wrap="square" lIns="0" tIns="0" rIns="0" bIns="0" rtlCol="0" anchor="t"/>
          <a:lstStyle/>
          <a:p>
            <a:pPr marL="0" indent="0">
              <a:buNone/>
            </a:pPr>
            <a:r>
              <a:rPr lang="en-US" sz="1500" dirty="0">
                <a:solidFill>
                  <a:srgbClr val="E6E6E6"/>
                </a:solidFill>
              </a:rPr>
              <a:t>No limits on data size or number of workflows</a:t>
            </a:r>
            <a:endParaRPr lang="en-US" sz="1500" dirty="0"/>
          </a:p>
        </p:txBody>
      </p:sp>
      <p:sp>
        <p:nvSpPr>
          <p:cNvPr id="9" name="stat 3"/>
          <p:cNvSpPr/>
          <p:nvPr/>
        </p:nvSpPr>
        <p:spPr>
          <a:xfrm>
            <a:off x="8046720" y="1920240"/>
            <a:ext cx="3520440" cy="2377440"/>
          </a:xfrm>
          <a:prstGeom prst="rect">
            <a:avLst/>
          </a:prstGeom>
          <a:solidFill>
            <a:srgbClr val="3D3D3D"/>
          </a:solidFill>
          <a:ln/>
        </p:spPr>
      </p:sp>
      <p:sp>
        <p:nvSpPr>
          <p:cNvPr id="10" name="Text 8"/>
          <p:cNvSpPr txBox="1"/>
          <p:nvPr/>
        </p:nvSpPr>
        <p:spPr>
          <a:xfrm>
            <a:off x="8366760" y="2194560"/>
            <a:ext cx="2926080" cy="914400"/>
          </a:xfrm>
          <a:prstGeom prst="rect">
            <a:avLst/>
          </a:prstGeom>
          <a:noFill/>
          <a:ln/>
        </p:spPr>
        <p:txBody>
          <a:bodyPr wrap="square" lIns="0" tIns="0" rIns="0" bIns="0" rtlCol="0" anchor="t"/>
          <a:lstStyle/>
          <a:p>
            <a:pPr marL="0" indent="0">
              <a:buNone/>
            </a:pPr>
            <a:r>
              <a:rPr lang="en-US" sz="4400" b="1" dirty="0">
                <a:solidFill>
                  <a:schemeClr val="accent1"/>
                </a:solidFill>
                <a:latin typeface="Georgia" pitchFamily="34" charset="0"/>
                <a:ea typeface="Georgia" pitchFamily="34" charset="-122"/>
                <a:cs typeface="Georgia" pitchFamily="34" charset="-120"/>
              </a:rPr>
              <a:t>GPLv3</a:t>
            </a:r>
            <a:endParaRPr lang="en-US" sz="4400" dirty="0"/>
          </a:p>
        </p:txBody>
      </p:sp>
      <p:sp>
        <p:nvSpPr>
          <p:cNvPr id="11" name="Text 9"/>
          <p:cNvSpPr txBox="1"/>
          <p:nvPr/>
        </p:nvSpPr>
        <p:spPr>
          <a:xfrm>
            <a:off x="8366760" y="3200400"/>
            <a:ext cx="2926080" cy="914400"/>
          </a:xfrm>
          <a:prstGeom prst="rect">
            <a:avLst/>
          </a:prstGeom>
          <a:noFill/>
          <a:ln/>
        </p:spPr>
        <p:txBody>
          <a:bodyPr wrap="square" lIns="0" tIns="0" rIns="0" bIns="0" rtlCol="0" anchor="t"/>
          <a:lstStyle/>
          <a:p>
            <a:pPr marL="0" indent="0">
              <a:buNone/>
            </a:pPr>
            <a:r>
              <a:rPr lang="en-US" sz="1500" dirty="0">
                <a:solidFill>
                  <a:srgbClr val="E6E6E6"/>
                </a:solidFill>
              </a:rPr>
              <a:t>Open-source licence, with an exception that allows commercial extensions</a:t>
            </a:r>
            <a:endParaRPr lang="en-US" sz="1500" dirty="0"/>
          </a:p>
        </p:txBody>
      </p:sp>
      <p:sp>
        <p:nvSpPr>
          <p:cNvPr id="12" name="Text 10"/>
          <p:cNvSpPr txBox="1"/>
          <p:nvPr/>
        </p:nvSpPr>
        <p:spPr>
          <a:xfrm>
            <a:off x="548640" y="4663440"/>
            <a:ext cx="11064240" cy="640080"/>
          </a:xfrm>
          <a:prstGeom prst="rect">
            <a:avLst/>
          </a:prstGeom>
          <a:noFill/>
          <a:ln/>
        </p:spPr>
        <p:txBody>
          <a:bodyPr wrap="square" lIns="0" tIns="0" rIns="0" bIns="0" rtlCol="0" anchor="t"/>
          <a:lstStyle/>
          <a:p>
            <a:pPr marL="0" indent="0">
              <a:buNone/>
            </a:pPr>
            <a:r>
              <a:rPr lang="en-US" sz="1600" dirty="0">
                <a:solidFill>
                  <a:srgbClr val="E6E6E6"/>
                </a:solidFill>
              </a:rPr>
              <a:t>KNIME earns its money from the optional KNIME Hub (collaboration, scheduling, deployment), not from the desktop tool.</a:t>
            </a:r>
            <a:endParaRPr lang="en-US" sz="1600" dirty="0"/>
          </a:p>
        </p:txBody>
      </p:sp>
      <p:sp>
        <p:nvSpPr>
          <p:cNvPr id="13" name="Text 11"/>
          <p:cNvSpPr txBox="1"/>
          <p:nvPr/>
        </p:nvSpPr>
        <p:spPr>
          <a:xfrm>
            <a:off x="548640" y="5760720"/>
            <a:ext cx="11064240" cy="274320"/>
          </a:xfrm>
          <a:prstGeom prst="rect">
            <a:avLst/>
          </a:prstGeom>
          <a:noFill/>
          <a:ln/>
        </p:spPr>
        <p:txBody>
          <a:bodyPr wrap="square" lIns="0" tIns="0" rIns="0" bIns="0" rtlCol="0" anchor="t"/>
          <a:lstStyle/>
          <a:p>
            <a:pPr marL="0" indent="0">
              <a:buNone/>
            </a:pPr>
            <a:r>
              <a:rPr lang="en-US" sz="1100" dirty="0">
                <a:solidFill>
                  <a:srgbClr val="BFBFBF"/>
                </a:solidFill>
              </a:rPr>
              <a:t>Source: knime.com/open-source-story. Confirm the internal software-approval policy before installing.</a:t>
            </a:r>
            <a:endParaRPr lang="en-US" sz="11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FBFBF"/>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9144000" cy="320040"/>
          </a:xfrm>
          <a:prstGeom prst="rect">
            <a:avLst/>
          </a:prstGeom>
          <a:noFill/>
          <a:ln/>
        </p:spPr>
        <p:txBody>
          <a:bodyPr wrap="square" lIns="0" tIns="0" rIns="0" bIns="0" rtlCol="0"/>
          <a:lstStyle/>
          <a:p>
            <a:pPr marL="0" indent="0" algn="l">
              <a:buNone/>
            </a:pPr>
            <a:r>
              <a:rPr lang="en-US" sz="1200" b="1" kern="0" spc="200" dirty="0">
                <a:solidFill>
                  <a:schemeClr val="accent2"/>
                </a:solidFill>
              </a:rPr>
              <a:t>02 · LICENSING</a:t>
            </a:r>
            <a:endParaRPr lang="en-US" sz="1200" dirty="0"/>
          </a:p>
        </p:txBody>
      </p:sp>
      <p:sp>
        <p:nvSpPr>
          <p:cNvPr id="3" name="Text 0"/>
          <p:cNvSpPr>
            <a:spLocks noGrp="1"/>
          </p:cNvSpPr>
          <p:nvPr>
            <p:ph type="title" idx="101" hasCustomPrompt="1"/>
          </p:nvPr>
        </p:nvSpPr>
        <p:spPr>
          <a:xfrm>
            <a:off x="548640" y="731520"/>
            <a:ext cx="11064240" cy="822960"/>
          </a:xfrm>
          <a:prstGeom prst="rect">
            <a:avLst/>
          </a:prstGeom>
          <a:noFill/>
          <a:ln/>
        </p:spPr>
        <p:txBody>
          <a:bodyPr wrap="square" lIns="0" tIns="0" rIns="0" bIns="0" rtlCol="0" anchor="t"/>
          <a:lstStyle/>
          <a:p>
            <a:pPr marL="0" indent="0" algn="l">
              <a:buNone/>
            </a:pPr>
            <a:r>
              <a:rPr lang="en-US" sz="3000" b="1" dirty="0">
                <a:solidFill>
                  <a:schemeClr val="tx1"/>
                </a:solidFill>
                <a:latin typeface="Georgia" pitchFamily="34" charset="0"/>
                <a:ea typeface="Georgia" pitchFamily="34" charset="-122"/>
                <a:cs typeface="Georgia" pitchFamily="34" charset="-120"/>
              </a:rPr>
              <a:t>Licensing options</a:t>
            </a:r>
            <a:endParaRPr lang="en-US" sz="3000" dirty="0"/>
          </a:p>
        </p:txBody>
      </p:sp>
      <p:graphicFrame>
        <p:nvGraphicFramePr>
          <p:cNvPr id="11" name="table"/>
          <p:cNvGraphicFramePr>
            <a:graphicFrameLocks noGrp="1"/>
          </p:cNvGraphicFramePr>
          <p:nvPr>
            <p:extLst>
              <p:ext uri="{D42A27DB-BD31-4B8C-83A1-F6EECF244321}">
                <p14:modId xmlns:p14="http://schemas.microsoft.com/office/powerpoint/2010/main" val="1579011935"/>
              </p:ext>
            </p:extLst>
          </p:nvPr>
        </p:nvGraphicFramePr>
        <p:xfrm>
          <a:off x="548640" y="1737360"/>
          <a:ext cx="11064240" cy="914400"/>
        </p:xfrm>
        <a:graphic>
          <a:graphicData uri="http://schemas.openxmlformats.org/drawingml/2006/table">
            <a:tbl>
              <a:tblPr/>
              <a:tblGrid>
                <a:gridCol w="3108960">
                  <a:extLst>
                    <a:ext uri="{9D8B030D-6E8A-4147-A177-3AD203B41FA5}">
                      <a16:colId xmlns:a16="http://schemas.microsoft.com/office/drawing/2014/main" val="20000"/>
                    </a:ext>
                  </a:extLst>
                </a:gridCol>
                <a:gridCol w="1737360">
                  <a:extLst>
                    <a:ext uri="{9D8B030D-6E8A-4147-A177-3AD203B41FA5}">
                      <a16:colId xmlns:a16="http://schemas.microsoft.com/office/drawing/2014/main" val="20001"/>
                    </a:ext>
                  </a:extLst>
                </a:gridCol>
                <a:gridCol w="6217920">
                  <a:extLst>
                    <a:ext uri="{9D8B030D-6E8A-4147-A177-3AD203B41FA5}">
                      <a16:colId xmlns:a16="http://schemas.microsoft.com/office/drawing/2014/main" val="20002"/>
                    </a:ext>
                  </a:extLst>
                </a:gridCol>
              </a:tblGrid>
              <a:tr h="457200">
                <a:tc>
                  <a:txBody>
                    <a:bodyPr/>
                    <a:lstStyle/>
                    <a:p>
                      <a:pPr marL="0" indent="0">
                        <a:buNone/>
                      </a:pPr>
                      <a:r>
                        <a:rPr lang="en-US" sz="1400" b="1" dirty="0">
                          <a:solidFill>
                            <a:schemeClr val="bg1"/>
                          </a:solidFill>
                          <a:latin typeface="Arial" pitchFamily="34" charset="0"/>
                          <a:ea typeface="Arial" pitchFamily="34" charset="-122"/>
                          <a:cs typeface="Arial" pitchFamily="34" charset="-120"/>
                        </a:rPr>
                        <a:t>Option</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Arial" pitchFamily="34" charset="0"/>
                          <a:ea typeface="Arial" pitchFamily="34" charset="-122"/>
                          <a:cs typeface="Arial" pitchFamily="34" charset="-120"/>
                        </a:rPr>
                        <a:t>Price</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Arial" pitchFamily="34" charset="0"/>
                          <a:ea typeface="Arial" pitchFamily="34" charset="-122"/>
                          <a:cs typeface="Arial" pitchFamily="34" charset="-120"/>
                        </a:rPr>
                        <a:t>What you get</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57200">
                <a:tc>
                  <a:txBody>
                    <a:bodyPr/>
                    <a:lstStyle/>
                    <a:p>
                      <a:pPr marL="0" indent="0">
                        <a:buNone/>
                      </a:pPr>
                      <a:r>
                        <a:rPr lang="en-US" sz="1400" b="1" dirty="0">
                          <a:solidFill>
                            <a:schemeClr val="tx1"/>
                          </a:solidFill>
                          <a:latin typeface="Arial" pitchFamily="34" charset="0"/>
                          <a:ea typeface="Arial" pitchFamily="34" charset="-122"/>
                          <a:cs typeface="Arial" pitchFamily="34" charset="-120"/>
                        </a:rPr>
                        <a:t>Analytics Platform (desktop)</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latin typeface="Arial" pitchFamily="34" charset="0"/>
                          <a:ea typeface="Arial" pitchFamily="34" charset="-122"/>
                          <a:cs typeface="Arial" pitchFamily="34" charset="-120"/>
                        </a:rPr>
                        <a:t>Free</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b="1" dirty="0">
                          <a:solidFill>
                            <a:schemeClr val="tx1"/>
                          </a:solidFill>
                          <a:latin typeface="Arial" pitchFamily="34" charset="0"/>
                          <a:ea typeface="Arial" pitchFamily="34" charset="-122"/>
                          <a:cs typeface="Arial" pitchFamily="34" charset="-120"/>
                        </a:rPr>
                        <a:t>Full desktop tool, unlimited local execution</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Hub Personal</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Free</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1 user, public spaces, 20 K-AI uses / month</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Hub Pro</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€19 / month</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1 user, cloud runs and scheduling (120 credits), 500 K-AI uses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Hub Team</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€99 / month</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3 users (+€49 each, up to 10), private team spaces, scheduling</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Business Hub Basic</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On request</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4 vCores, 5 users, 1 team, share data apps and services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Business Hub Standard</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On request</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8 vCores, 5 users, 3 teams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extLst>
                  <a:ext uri="{0D108BD9-81ED-4DB2-BD59-A6C34878D82A}">
                    <a16:rowId xmlns:a16="http://schemas.microsoft.com/office/drawing/2014/main" val="10006"/>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Business Hub Enterprise</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On request</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16 vCores, 20 users, SSO / LDAP, staged deployment, own cluster</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7"/>
                  </a:ext>
                </a:extLst>
              </a:tr>
            </a:tbl>
          </a:graphicData>
        </a:graphic>
      </p:graphicFrame>
      <p:sp>
        <p:nvSpPr>
          <p:cNvPr id="5" name="Text 2"/>
          <p:cNvSpPr txBox="1"/>
          <p:nvPr/>
        </p:nvSpPr>
        <p:spPr>
          <a:xfrm>
            <a:off x="548640" y="5715000"/>
            <a:ext cx="11064240" cy="274320"/>
          </a:xfrm>
          <a:prstGeom prst="rect">
            <a:avLst/>
          </a:prstGeom>
          <a:noFill/>
          <a:ln/>
        </p:spPr>
        <p:txBody>
          <a:bodyPr wrap="square" lIns="0" tIns="0" rIns="0" bIns="0" rtlCol="0" anchor="t"/>
          <a:lstStyle/>
          <a:p>
            <a:pPr marL="0" indent="0">
              <a:buNone/>
            </a:pPr>
            <a:r>
              <a:rPr lang="en-US" sz="1100" dirty="0">
                <a:solidFill>
                  <a:schemeClr val="accent6"/>
                </a:solidFill>
              </a:rPr>
              <a:t>Source: knime.com/knime-hub-pricing, checked Oct 2026. Extra cloud runtime €0.025 per credit. Prices can change.</a:t>
            </a:r>
            <a:endParaRPr lang="en-US" sz="11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7D7D"/>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9144000" cy="320040"/>
          </a:xfrm>
          <a:prstGeom prst="rect">
            <a:avLst/>
          </a:prstGeom>
          <a:noFill/>
          <a:ln/>
        </p:spPr>
        <p:txBody>
          <a:bodyPr wrap="square" lIns="0" tIns="0" rIns="0" bIns="0" rtlCol="0"/>
          <a:lstStyle/>
          <a:p>
            <a:pPr marL="0" indent="0" algn="l">
              <a:buNone/>
            </a:pPr>
            <a:r>
              <a:rPr lang="en-US" sz="1200" b="1" kern="0" spc="200" dirty="0">
                <a:solidFill>
                  <a:schemeClr val="accent2"/>
                </a:solidFill>
              </a:rPr>
              <a:t>02 · RECOMMENDATION</a:t>
            </a:r>
            <a:endParaRPr lang="en-US" sz="1200" dirty="0"/>
          </a:p>
        </p:txBody>
      </p:sp>
      <p:sp>
        <p:nvSpPr>
          <p:cNvPr id="3" name="Text 0"/>
          <p:cNvSpPr>
            <a:spLocks noGrp="1"/>
          </p:cNvSpPr>
          <p:nvPr>
            <p:ph type="title" idx="101" hasCustomPrompt="1"/>
          </p:nvPr>
        </p:nvSpPr>
        <p:spPr>
          <a:xfrm>
            <a:off x="548640" y="731520"/>
            <a:ext cx="11064240" cy="822960"/>
          </a:xfrm>
          <a:prstGeom prst="rect">
            <a:avLst/>
          </a:prstGeom>
          <a:noFill/>
          <a:ln/>
        </p:spPr>
        <p:txBody>
          <a:bodyPr wrap="square" lIns="0" tIns="0" rIns="0" bIns="0" rtlCol="0" anchor="t"/>
          <a:lstStyle/>
          <a:p>
            <a:pPr marL="0" indent="0" algn="l">
              <a:buNone/>
            </a:pPr>
            <a:r>
              <a:rPr lang="en-US" sz="3000" b="1" dirty="0">
                <a:solidFill>
                  <a:schemeClr val="tx1"/>
                </a:solidFill>
                <a:latin typeface="Georgia" pitchFamily="34" charset="0"/>
                <a:ea typeface="Georgia" pitchFamily="34" charset="-122"/>
                <a:cs typeface="Georgia" pitchFamily="34" charset="-120"/>
              </a:rPr>
              <a:t>Which option fits us</a:t>
            </a:r>
            <a:endParaRPr lang="en-US" sz="3000" dirty="0"/>
          </a:p>
        </p:txBody>
      </p:sp>
      <p:sp>
        <p:nvSpPr>
          <p:cNvPr id="4" name="option 1"/>
          <p:cNvSpPr/>
          <p:nvPr/>
        </p:nvSpPr>
        <p:spPr>
          <a:xfrm>
            <a:off x="548640" y="1783080"/>
            <a:ext cx="5440680" cy="3017520"/>
          </a:xfrm>
          <a:prstGeom prst="rect">
            <a:avLst/>
          </a:prstGeom>
          <a:solidFill>
            <a:schemeClr val="bg2"/>
          </a:solidFill>
          <a:ln/>
        </p:spPr>
      </p:sp>
      <p:sp>
        <p:nvSpPr>
          <p:cNvPr id="5" name="Text 3"/>
          <p:cNvSpPr txBox="1"/>
          <p:nvPr/>
        </p:nvSpPr>
        <p:spPr>
          <a:xfrm>
            <a:off x="914400" y="2057400"/>
            <a:ext cx="4572000" cy="320040"/>
          </a:xfrm>
          <a:prstGeom prst="rect">
            <a:avLst/>
          </a:prstGeom>
          <a:noFill/>
          <a:ln/>
        </p:spPr>
        <p:txBody>
          <a:bodyPr wrap="square" lIns="0" tIns="0" rIns="0" bIns="0" rtlCol="0" anchor="t"/>
          <a:lstStyle/>
          <a:p>
            <a:pPr marL="0" indent="0">
              <a:buNone/>
            </a:pPr>
            <a:r>
              <a:rPr lang="en-US" sz="1200" b="1" kern="0" spc="200" dirty="0">
                <a:solidFill>
                  <a:schemeClr val="accent2"/>
                </a:solidFill>
              </a:rPr>
              <a:t>NOW · FREE</a:t>
            </a:r>
            <a:endParaRPr lang="en-US" sz="1200" dirty="0"/>
          </a:p>
        </p:txBody>
      </p:sp>
      <p:sp>
        <p:nvSpPr>
          <p:cNvPr id="6" name="Text 4"/>
          <p:cNvSpPr txBox="1"/>
          <p:nvPr/>
        </p:nvSpPr>
        <p:spPr>
          <a:xfrm>
            <a:off x="914400" y="2423160"/>
            <a:ext cx="4754880" cy="502920"/>
          </a:xfrm>
          <a:prstGeom prst="rect">
            <a:avLst/>
          </a:prstGeom>
          <a:noFill/>
          <a:ln/>
        </p:spPr>
        <p:txBody>
          <a:bodyPr wrap="square" lIns="0" tIns="0" rIns="0" bIns="0" rtlCol="0" anchor="t"/>
          <a:lstStyle/>
          <a:p>
            <a:pPr marL="0" indent="0">
              <a:buNone/>
            </a:pPr>
            <a:r>
              <a:rPr lang="en-US" sz="2200" b="1" dirty="0">
                <a:solidFill>
                  <a:schemeClr val="tx1"/>
                </a:solidFill>
                <a:latin typeface="Georgia" pitchFamily="34" charset="0"/>
                <a:ea typeface="Georgia" pitchFamily="34" charset="-122"/>
                <a:cs typeface="Georgia" pitchFamily="34" charset="-120"/>
              </a:rPr>
              <a:t>Desktop for each analyst</a:t>
            </a:r>
            <a:endParaRPr lang="en-US" sz="2200" dirty="0"/>
          </a:p>
        </p:txBody>
      </p:sp>
      <p:sp>
        <p:nvSpPr>
          <p:cNvPr id="7" name="Text 5"/>
          <p:cNvSpPr txBox="1"/>
          <p:nvPr/>
        </p:nvSpPr>
        <p:spPr>
          <a:xfrm>
            <a:off x="914400" y="3063240"/>
            <a:ext cx="475488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Build and run workflows locally</a:t>
            </a:r>
            <a:endParaRPr lang="en-US" sz="1500" dirty="0"/>
          </a:p>
          <a:p>
            <a:pPr marL="342900" indent="-342900">
              <a:spcAft>
                <a:spcPts val="600"/>
              </a:spcAft>
              <a:buSzPct val="100000"/>
              <a:buChar char="•"/>
            </a:pPr>
            <a:r>
              <a:rPr lang="en-US" sz="1500" dirty="0">
                <a:solidFill>
                  <a:schemeClr val="tx2"/>
                </a:solidFill>
              </a:rPr>
              <a:t>Share workflows as files</a:t>
            </a:r>
            <a:endParaRPr lang="en-US" sz="1500" dirty="0"/>
          </a:p>
          <a:p>
            <a:pPr marL="342900" indent="-342900">
              <a:spcAft>
                <a:spcPts val="600"/>
              </a:spcAft>
              <a:buSzPct val="100000"/>
              <a:buChar char="•"/>
            </a:pPr>
            <a:r>
              <a:rPr lang="en-US" sz="1500" dirty="0">
                <a:solidFill>
                  <a:schemeClr val="tx2"/>
                </a:solidFill>
              </a:rPr>
              <a:t>Run manually each period</a:t>
            </a:r>
            <a:endParaRPr lang="en-US" sz="1500" dirty="0"/>
          </a:p>
        </p:txBody>
      </p:sp>
      <p:sp>
        <p:nvSpPr>
          <p:cNvPr id="8" name="option 2"/>
          <p:cNvSpPr/>
          <p:nvPr/>
        </p:nvSpPr>
        <p:spPr>
          <a:xfrm>
            <a:off x="6172200" y="1783080"/>
            <a:ext cx="5440680" cy="3017520"/>
          </a:xfrm>
          <a:prstGeom prst="rect">
            <a:avLst/>
          </a:prstGeom>
          <a:solidFill>
            <a:schemeClr val="bg2"/>
          </a:solidFill>
          <a:ln/>
        </p:spPr>
      </p:sp>
      <p:sp>
        <p:nvSpPr>
          <p:cNvPr id="9" name="Text 7"/>
          <p:cNvSpPr txBox="1"/>
          <p:nvPr/>
        </p:nvSpPr>
        <p:spPr>
          <a:xfrm>
            <a:off x="6537960" y="2057400"/>
            <a:ext cx="4572000" cy="320040"/>
          </a:xfrm>
          <a:prstGeom prst="rect">
            <a:avLst/>
          </a:prstGeom>
          <a:noFill/>
          <a:ln/>
        </p:spPr>
        <p:txBody>
          <a:bodyPr wrap="square" lIns="0" tIns="0" rIns="0" bIns="0" rtlCol="0" anchor="t"/>
          <a:lstStyle/>
          <a:p>
            <a:pPr marL="0" indent="0">
              <a:buNone/>
            </a:pPr>
            <a:r>
              <a:rPr lang="en-US" sz="1200" b="1" kern="0" spc="200" dirty="0">
                <a:solidFill>
                  <a:schemeClr val="tx2"/>
                </a:solidFill>
              </a:rPr>
              <a:t>LATER · PAID</a:t>
            </a:r>
            <a:endParaRPr lang="en-US" sz="1200" dirty="0"/>
          </a:p>
        </p:txBody>
      </p:sp>
      <p:sp>
        <p:nvSpPr>
          <p:cNvPr id="10" name="Text 8"/>
          <p:cNvSpPr txBox="1"/>
          <p:nvPr/>
        </p:nvSpPr>
        <p:spPr>
          <a:xfrm>
            <a:off x="6537960" y="2423160"/>
            <a:ext cx="4754880" cy="502920"/>
          </a:xfrm>
          <a:prstGeom prst="rect">
            <a:avLst/>
          </a:prstGeom>
          <a:noFill/>
          <a:ln/>
        </p:spPr>
        <p:txBody>
          <a:bodyPr wrap="square" lIns="0" tIns="0" rIns="0" bIns="0" rtlCol="0" anchor="t"/>
          <a:lstStyle/>
          <a:p>
            <a:pPr marL="0" indent="0">
              <a:buNone/>
            </a:pPr>
            <a:r>
              <a:rPr lang="en-US" sz="2200" b="1" dirty="0">
                <a:solidFill>
                  <a:schemeClr val="tx1"/>
                </a:solidFill>
                <a:latin typeface="Georgia" pitchFamily="34" charset="0"/>
                <a:ea typeface="Georgia" pitchFamily="34" charset="-122"/>
                <a:cs typeface="Georgia" pitchFamily="34" charset="-120"/>
              </a:rPr>
              <a:t>Business Hub, if we scale</a:t>
            </a:r>
            <a:endParaRPr lang="en-US" sz="2200" dirty="0"/>
          </a:p>
        </p:txBody>
      </p:sp>
      <p:sp>
        <p:nvSpPr>
          <p:cNvPr id="11" name="Text 9"/>
          <p:cNvSpPr txBox="1"/>
          <p:nvPr/>
        </p:nvSpPr>
        <p:spPr>
          <a:xfrm>
            <a:off x="6537960" y="3063240"/>
            <a:ext cx="4754880" cy="146304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2"/>
                </a:solidFill>
              </a:rPr>
              <a:t>Scheduled monthly runs</a:t>
            </a:r>
            <a:endParaRPr lang="en-US" sz="1500" dirty="0"/>
          </a:p>
          <a:p>
            <a:pPr marL="342900" indent="-342900">
              <a:spcAft>
                <a:spcPts val="600"/>
              </a:spcAft>
              <a:buSzPct val="100000"/>
              <a:buChar char="•"/>
            </a:pPr>
            <a:r>
              <a:rPr lang="en-US" sz="1500" dirty="0">
                <a:solidFill>
                  <a:schemeClr val="tx2"/>
                </a:solidFill>
              </a:rPr>
              <a:t>Central, versioned workflows</a:t>
            </a:r>
            <a:endParaRPr lang="en-US" sz="1500" dirty="0"/>
          </a:p>
          <a:p>
            <a:pPr marL="342900" indent="-342900">
              <a:spcAft>
                <a:spcPts val="600"/>
              </a:spcAft>
              <a:buSzPct val="100000"/>
              <a:buChar char="•"/>
            </a:pPr>
            <a:r>
              <a:rPr lang="en-US" sz="1500" dirty="0">
                <a:solidFill>
                  <a:schemeClr val="tx2"/>
                </a:solidFill>
              </a:rPr>
              <a:t>Access control for client data</a:t>
            </a:r>
            <a:endParaRPr lang="en-US" sz="1500" dirty="0"/>
          </a:p>
        </p:txBody>
      </p:sp>
      <p:sp>
        <p:nvSpPr>
          <p:cNvPr id="12" name="recommendation box"/>
          <p:cNvSpPr/>
          <p:nvPr/>
        </p:nvSpPr>
        <p:spPr>
          <a:xfrm>
            <a:off x="548640" y="5074920"/>
            <a:ext cx="11064240" cy="777240"/>
          </a:xfrm>
          <a:prstGeom prst="rect">
            <a:avLst/>
          </a:prstGeom>
          <a:solidFill>
            <a:srgbClr val="FFE9DE"/>
          </a:solidFill>
          <a:ln/>
        </p:spPr>
      </p:sp>
      <p:sp>
        <p:nvSpPr>
          <p:cNvPr id="13" name="Text 11"/>
          <p:cNvSpPr txBox="1"/>
          <p:nvPr/>
        </p:nvSpPr>
        <p:spPr>
          <a:xfrm>
            <a:off x="822960" y="5074920"/>
            <a:ext cx="10515600" cy="777240"/>
          </a:xfrm>
          <a:prstGeom prst="rect">
            <a:avLst/>
          </a:prstGeom>
          <a:noFill/>
          <a:ln/>
        </p:spPr>
        <p:txBody>
          <a:bodyPr wrap="square" lIns="0" tIns="0" rIns="0" bIns="0" rtlCol="0" anchor="ctr"/>
          <a:lstStyle/>
          <a:p>
            <a:pPr marL="0" indent="0">
              <a:buNone/>
            </a:pPr>
            <a:r>
              <a:rPr lang="en-US" sz="1600" b="1" dirty="0">
                <a:solidFill>
                  <a:schemeClr val="tx1"/>
                </a:solidFill>
              </a:rPr>
              <a:t>Suggestion: </a:t>
            </a:r>
            <a:r>
              <a:rPr lang="en-US" sz="1600" dirty="0">
                <a:solidFill>
                  <a:schemeClr val="tx1"/>
                </a:solidFill>
              </a:rPr>
              <a:t>start free on desktop, prove 1–2 Tax use cases, then decide on Hub with real usage numbers.</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7D7D"/>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463040"/>
            <a:ext cx="3657600" cy="1463040"/>
          </a:xfrm>
          <a:prstGeom prst="rect">
            <a:avLst/>
          </a:prstGeom>
          <a:noFill/>
          <a:ln/>
        </p:spPr>
        <p:txBody>
          <a:bodyPr wrap="square" lIns="0" tIns="0" rIns="0" bIns="0" rtlCol="0" anchor="b"/>
          <a:lstStyle/>
          <a:p>
            <a:pPr marL="0" indent="0" algn="l">
              <a:buNone/>
            </a:pPr>
            <a:r>
              <a:rPr lang="en-US" sz="9600" b="1" dirty="0">
                <a:solidFill>
                  <a:schemeClr val="bg1"/>
                </a:solidFill>
                <a:latin typeface="Georgia" pitchFamily="34" charset="0"/>
                <a:ea typeface="Georgia" pitchFamily="34" charset="-122"/>
                <a:cs typeface="Georgia" pitchFamily="34" charset="-120"/>
              </a:rPr>
              <a:t>03</a:t>
            </a:r>
            <a:endParaRPr lang="en-US" sz="9600" dirty="0"/>
          </a:p>
        </p:txBody>
      </p:sp>
      <p:sp>
        <p:nvSpPr>
          <p:cNvPr id="3" name="Text 0"/>
          <p:cNvSpPr>
            <a:spLocks noGrp="1"/>
          </p:cNvSpPr>
          <p:nvPr>
            <p:ph type="title" idx="101" hasCustomPrompt="1"/>
          </p:nvPr>
        </p:nvSpPr>
        <p:spPr>
          <a:xfrm>
            <a:off x="548640" y="3108960"/>
            <a:ext cx="10058400" cy="1280160"/>
          </a:xfrm>
          <a:prstGeom prst="rect">
            <a:avLst/>
          </a:prstGeom>
          <a:noFill/>
          <a:ln/>
        </p:spPr>
        <p:txBody>
          <a:bodyPr wrap="square" lIns="0" tIns="0" rIns="0" bIns="0" rtlCol="0" anchor="t"/>
          <a:lstStyle/>
          <a:p>
            <a:pPr marL="0" indent="0" algn="l">
              <a:buNone/>
            </a:pPr>
            <a:r>
              <a:rPr lang="en-US" sz="4000" b="1" dirty="0">
                <a:solidFill>
                  <a:schemeClr val="bg1"/>
                </a:solidFill>
                <a:latin typeface="Georgia" pitchFamily="34" charset="0"/>
                <a:ea typeface="Georgia" pitchFamily="34" charset="-122"/>
                <a:cs typeface="Georgia" pitchFamily="34" charset="-120"/>
              </a:rPr>
              <a:t>Demo of the POC</a:t>
            </a:r>
            <a:endParaRPr lang="en-US" sz="4000" dirty="0"/>
          </a:p>
        </p:txBody>
      </p:sp>
      <p:sp>
        <p:nvSpPr>
          <p:cNvPr id="25" name="Slide Number Placeholder 0"/>
          <p:cNvSpPr>
            <a:spLocks noGrp="1"/>
          </p:cNvSpPr>
          <p:nvPr>
            <p:ph type="sldNum" sz="quarter" idx="4294967295"/>
          </p:nvPr>
        </p:nvSpPr>
        <p:spPr>
          <a:xfrm>
            <a:off x="11155680" y="626364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9144000" cy="320040"/>
          </a:xfrm>
          <a:prstGeom prst="rect">
            <a:avLst/>
          </a:prstGeom>
          <a:noFill/>
          <a:ln/>
        </p:spPr>
        <p:txBody>
          <a:bodyPr wrap="square" lIns="0" tIns="0" rIns="0" bIns="0" rtlCol="0"/>
          <a:lstStyle/>
          <a:p>
            <a:pPr marL="0" indent="0" algn="l">
              <a:buNone/>
            </a:pPr>
            <a:r>
              <a:rPr lang="en-US" sz="1200" b="1" kern="0" spc="200" dirty="0">
                <a:solidFill>
                  <a:schemeClr val="accent2"/>
                </a:solidFill>
              </a:rPr>
              <a:t>03 · THE POC</a:t>
            </a:r>
            <a:endParaRPr lang="en-US" sz="1200" dirty="0"/>
          </a:p>
        </p:txBody>
      </p:sp>
      <p:sp>
        <p:nvSpPr>
          <p:cNvPr id="3" name="Text 0"/>
          <p:cNvSpPr>
            <a:spLocks noGrp="1"/>
          </p:cNvSpPr>
          <p:nvPr>
            <p:ph type="title" idx="101" hasCustomPrompt="1"/>
          </p:nvPr>
        </p:nvSpPr>
        <p:spPr>
          <a:xfrm>
            <a:off x="548640" y="731520"/>
            <a:ext cx="11064240" cy="822960"/>
          </a:xfrm>
          <a:prstGeom prst="rect">
            <a:avLst/>
          </a:prstGeom>
          <a:noFill/>
          <a:ln/>
        </p:spPr>
        <p:txBody>
          <a:bodyPr wrap="square" lIns="0" tIns="0" rIns="0" bIns="0" rtlCol="0" anchor="t"/>
          <a:lstStyle/>
          <a:p>
            <a:pPr marL="0" indent="0" algn="l">
              <a:buNone/>
            </a:pPr>
            <a:r>
              <a:rPr lang="en-US" sz="3000" b="1" dirty="0">
                <a:solidFill>
                  <a:schemeClr val="tx1"/>
                </a:solidFill>
                <a:latin typeface="Georgia" pitchFamily="34" charset="0"/>
                <a:ea typeface="Georgia" pitchFamily="34" charset="-122"/>
                <a:cs typeface="Georgia" pitchFamily="34" charset="-120"/>
              </a:rPr>
              <a:t>A 20-node data-prep and reconciliation workflow</a:t>
            </a:r>
            <a:endParaRPr lang="en-US" sz="3000" dirty="0"/>
          </a:p>
        </p:txBody>
      </p:sp>
      <p:sp>
        <p:nvSpPr>
          <p:cNvPr id="4" name="flow Read"/>
          <p:cNvSpPr/>
          <p:nvPr/>
        </p:nvSpPr>
        <p:spPr>
          <a:xfrm>
            <a:off x="548640" y="1920240"/>
            <a:ext cx="1691640" cy="2743200"/>
          </a:xfrm>
          <a:prstGeom prst="rect">
            <a:avLst/>
          </a:prstGeom>
          <a:solidFill>
            <a:schemeClr val="bg2"/>
          </a:solidFill>
          <a:ln/>
        </p:spPr>
      </p:sp>
      <p:sp>
        <p:nvSpPr>
          <p:cNvPr id="5" name="flow 1 circle"/>
          <p:cNvSpPr/>
          <p:nvPr/>
        </p:nvSpPr>
        <p:spPr>
          <a:xfrm>
            <a:off x="1005840" y="2148840"/>
            <a:ext cx="777240" cy="777240"/>
          </a:xfrm>
          <a:prstGeom prst="ellipse">
            <a:avLst/>
          </a:prstGeom>
          <a:solidFill>
            <a:schemeClr val="accent1"/>
          </a:solidFill>
          <a:ln/>
        </p:spPr>
      </p:sp>
      <p:pic>
        <p:nvPicPr>
          <p:cNvPr id="6" name="flow 1 icon" descr="preencoded.png"/>
          <p:cNvPicPr>
            <a:picLocks noChangeAspect="1"/>
          </p:cNvPicPr>
          <p:nvPr/>
        </p:nvPicPr>
        <p:blipFill>
          <a:blip r:embed="rId3"/>
          <a:stretch>
            <a:fillRect/>
          </a:stretch>
        </p:blipFill>
        <p:spPr>
          <a:xfrm>
            <a:off x="1207922" y="2350922"/>
            <a:ext cx="373075" cy="373075"/>
          </a:xfrm>
          <a:prstGeom prst="rect">
            <a:avLst/>
          </a:prstGeom>
        </p:spPr>
      </p:pic>
      <p:sp>
        <p:nvSpPr>
          <p:cNvPr id="7" name="Text 4"/>
          <p:cNvSpPr txBox="1"/>
          <p:nvPr/>
        </p:nvSpPr>
        <p:spPr>
          <a:xfrm>
            <a:off x="685800" y="3063240"/>
            <a:ext cx="1417320" cy="365760"/>
          </a:xfrm>
          <a:prstGeom prst="rect">
            <a:avLst/>
          </a:prstGeom>
          <a:noFill/>
          <a:ln/>
        </p:spPr>
        <p:txBody>
          <a:bodyPr wrap="square" lIns="0" tIns="0" rIns="0" bIns="0" rtlCol="0" anchor="t"/>
          <a:lstStyle/>
          <a:p>
            <a:pPr marL="0" indent="0" algn="ctr">
              <a:buNone/>
            </a:pPr>
            <a:r>
              <a:rPr lang="en-US" sz="1600" b="1" dirty="0">
                <a:solidFill>
                  <a:schemeClr val="tx1"/>
                </a:solidFill>
              </a:rPr>
              <a:t>Read</a:t>
            </a:r>
            <a:endParaRPr lang="en-US" sz="1600" dirty="0"/>
          </a:p>
        </p:txBody>
      </p:sp>
      <p:sp>
        <p:nvSpPr>
          <p:cNvPr id="8" name="Text 5"/>
          <p:cNvSpPr txBox="1"/>
          <p:nvPr/>
        </p:nvSpPr>
        <p:spPr>
          <a:xfrm>
            <a:off x="685800" y="3474720"/>
            <a:ext cx="1417320" cy="1097280"/>
          </a:xfrm>
          <a:prstGeom prst="rect">
            <a:avLst/>
          </a:prstGeom>
          <a:noFill/>
          <a:ln/>
        </p:spPr>
        <p:txBody>
          <a:bodyPr wrap="square" lIns="0" tIns="0" rIns="0" bIns="0" rtlCol="0" anchor="t"/>
          <a:lstStyle/>
          <a:p>
            <a:pPr marL="0" indent="0" algn="ctr">
              <a:buNone/>
            </a:pPr>
            <a:r>
              <a:rPr lang="en-US" sz="1200" dirty="0">
                <a:solidFill>
                  <a:schemeClr val="tx2"/>
                </a:solidFill>
              </a:rPr>
              <a:t>3 CSV files: orders, products, customers</a:t>
            </a:r>
            <a:endParaRPr lang="en-US" sz="1200" dirty="0"/>
          </a:p>
        </p:txBody>
      </p:sp>
      <p:sp>
        <p:nvSpPr>
          <p:cNvPr id="9" name="flow Clean"/>
          <p:cNvSpPr/>
          <p:nvPr/>
        </p:nvSpPr>
        <p:spPr>
          <a:xfrm>
            <a:off x="2423160" y="1920240"/>
            <a:ext cx="1691640" cy="2743200"/>
          </a:xfrm>
          <a:prstGeom prst="rect">
            <a:avLst/>
          </a:prstGeom>
          <a:solidFill>
            <a:schemeClr val="bg2"/>
          </a:solidFill>
          <a:ln/>
        </p:spPr>
      </p:sp>
      <p:sp>
        <p:nvSpPr>
          <p:cNvPr id="10" name="flow 2 circle"/>
          <p:cNvSpPr/>
          <p:nvPr/>
        </p:nvSpPr>
        <p:spPr>
          <a:xfrm>
            <a:off x="2880360" y="2148840"/>
            <a:ext cx="777240" cy="777240"/>
          </a:xfrm>
          <a:prstGeom prst="ellipse">
            <a:avLst/>
          </a:prstGeom>
          <a:solidFill>
            <a:schemeClr val="accent1"/>
          </a:solidFill>
          <a:ln/>
        </p:spPr>
      </p:sp>
      <p:pic>
        <p:nvPicPr>
          <p:cNvPr id="11" name="flow 2 icon" descr="preencoded.png"/>
          <p:cNvPicPr>
            <a:picLocks noChangeAspect="1"/>
          </p:cNvPicPr>
          <p:nvPr/>
        </p:nvPicPr>
        <p:blipFill>
          <a:blip r:embed="rId4"/>
          <a:stretch>
            <a:fillRect/>
          </a:stretch>
        </p:blipFill>
        <p:spPr>
          <a:xfrm>
            <a:off x="3082442" y="2350922"/>
            <a:ext cx="373075" cy="373075"/>
          </a:xfrm>
          <a:prstGeom prst="rect">
            <a:avLst/>
          </a:prstGeom>
        </p:spPr>
      </p:pic>
      <p:sp>
        <p:nvSpPr>
          <p:cNvPr id="12" name="Text 8"/>
          <p:cNvSpPr txBox="1"/>
          <p:nvPr/>
        </p:nvSpPr>
        <p:spPr>
          <a:xfrm>
            <a:off x="2560320" y="3063240"/>
            <a:ext cx="1417320" cy="365760"/>
          </a:xfrm>
          <a:prstGeom prst="rect">
            <a:avLst/>
          </a:prstGeom>
          <a:noFill/>
          <a:ln/>
        </p:spPr>
        <p:txBody>
          <a:bodyPr wrap="square" lIns="0" tIns="0" rIns="0" bIns="0" rtlCol="0" anchor="t"/>
          <a:lstStyle/>
          <a:p>
            <a:pPr marL="0" indent="0" algn="ctr">
              <a:buNone/>
            </a:pPr>
            <a:r>
              <a:rPr lang="en-US" sz="1600" b="1" dirty="0">
                <a:solidFill>
                  <a:schemeClr val="tx1"/>
                </a:solidFill>
              </a:rPr>
              <a:t>Clean</a:t>
            </a:r>
            <a:endParaRPr lang="en-US" sz="1600" dirty="0"/>
          </a:p>
        </p:txBody>
      </p:sp>
      <p:sp>
        <p:nvSpPr>
          <p:cNvPr id="13" name="Text 9"/>
          <p:cNvSpPr txBox="1"/>
          <p:nvPr/>
        </p:nvSpPr>
        <p:spPr>
          <a:xfrm>
            <a:off x="2560320" y="3474720"/>
            <a:ext cx="1417320" cy="1097280"/>
          </a:xfrm>
          <a:prstGeom prst="rect">
            <a:avLst/>
          </a:prstGeom>
          <a:noFill/>
          <a:ln/>
        </p:spPr>
        <p:txBody>
          <a:bodyPr wrap="square" lIns="0" tIns="0" rIns="0" bIns="0" rtlCol="0" anchor="t"/>
          <a:lstStyle/>
          <a:p>
            <a:pPr marL="0" indent="0" algn="ctr">
              <a:buNone/>
            </a:pPr>
            <a:r>
              <a:rPr lang="en-US" sz="1200" dirty="0">
                <a:solidFill>
                  <a:schemeClr val="tx2"/>
                </a:solidFill>
              </a:rPr>
              <a:t>Remove duplicates, fix dates, drop blanks</a:t>
            </a:r>
            <a:endParaRPr lang="en-US" sz="1200" dirty="0"/>
          </a:p>
        </p:txBody>
      </p:sp>
      <p:sp>
        <p:nvSpPr>
          <p:cNvPr id="14" name="flow Filter"/>
          <p:cNvSpPr/>
          <p:nvPr/>
        </p:nvSpPr>
        <p:spPr>
          <a:xfrm>
            <a:off x="4297680" y="1920240"/>
            <a:ext cx="1691640" cy="2743200"/>
          </a:xfrm>
          <a:prstGeom prst="rect">
            <a:avLst/>
          </a:prstGeom>
          <a:solidFill>
            <a:schemeClr val="bg2"/>
          </a:solidFill>
          <a:ln/>
        </p:spPr>
      </p:sp>
      <p:sp>
        <p:nvSpPr>
          <p:cNvPr id="15" name="flow 3 circle"/>
          <p:cNvSpPr/>
          <p:nvPr/>
        </p:nvSpPr>
        <p:spPr>
          <a:xfrm>
            <a:off x="4754880" y="2148840"/>
            <a:ext cx="777240" cy="777240"/>
          </a:xfrm>
          <a:prstGeom prst="ellipse">
            <a:avLst/>
          </a:prstGeom>
          <a:solidFill>
            <a:schemeClr val="accent1"/>
          </a:solidFill>
          <a:ln/>
        </p:spPr>
      </p:sp>
      <p:pic>
        <p:nvPicPr>
          <p:cNvPr id="16" name="flow 3 icon" descr="preencoded.png"/>
          <p:cNvPicPr>
            <a:picLocks noChangeAspect="1"/>
          </p:cNvPicPr>
          <p:nvPr/>
        </p:nvPicPr>
        <p:blipFill>
          <a:blip r:embed="rId5"/>
          <a:stretch>
            <a:fillRect/>
          </a:stretch>
        </p:blipFill>
        <p:spPr>
          <a:xfrm>
            <a:off x="4956962" y="2350922"/>
            <a:ext cx="373075" cy="373075"/>
          </a:xfrm>
          <a:prstGeom prst="rect">
            <a:avLst/>
          </a:prstGeom>
        </p:spPr>
      </p:pic>
      <p:sp>
        <p:nvSpPr>
          <p:cNvPr id="17" name="Text 12"/>
          <p:cNvSpPr txBox="1"/>
          <p:nvPr/>
        </p:nvSpPr>
        <p:spPr>
          <a:xfrm>
            <a:off x="4434840" y="3063240"/>
            <a:ext cx="1417320" cy="365760"/>
          </a:xfrm>
          <a:prstGeom prst="rect">
            <a:avLst/>
          </a:prstGeom>
          <a:noFill/>
          <a:ln/>
        </p:spPr>
        <p:txBody>
          <a:bodyPr wrap="square" lIns="0" tIns="0" rIns="0" bIns="0" rtlCol="0" anchor="t"/>
          <a:lstStyle/>
          <a:p>
            <a:pPr marL="0" indent="0" algn="ctr">
              <a:buNone/>
            </a:pPr>
            <a:r>
              <a:rPr lang="en-US" sz="1600" b="1" dirty="0">
                <a:solidFill>
                  <a:schemeClr val="tx1"/>
                </a:solidFill>
              </a:rPr>
              <a:t>Filter</a:t>
            </a:r>
            <a:endParaRPr lang="en-US" sz="1600" dirty="0"/>
          </a:p>
        </p:txBody>
      </p:sp>
      <p:sp>
        <p:nvSpPr>
          <p:cNvPr id="18" name="Text 13"/>
          <p:cNvSpPr txBox="1"/>
          <p:nvPr/>
        </p:nvSpPr>
        <p:spPr>
          <a:xfrm>
            <a:off x="4434840" y="3474720"/>
            <a:ext cx="1417320" cy="1097280"/>
          </a:xfrm>
          <a:prstGeom prst="rect">
            <a:avLst/>
          </a:prstGeom>
          <a:noFill/>
          <a:ln/>
        </p:spPr>
        <p:txBody>
          <a:bodyPr wrap="square" lIns="0" tIns="0" rIns="0" bIns="0" rtlCol="0" anchor="t"/>
          <a:lstStyle/>
          <a:p>
            <a:pPr marL="0" indent="0" algn="ctr">
              <a:buNone/>
            </a:pPr>
            <a:r>
              <a:rPr lang="en-US" sz="1200" dirty="0">
                <a:solidFill>
                  <a:schemeClr val="tx2"/>
                </a:solidFill>
              </a:rPr>
              <a:t>Keep completed orders only</a:t>
            </a:r>
            <a:endParaRPr lang="en-US" sz="1200" dirty="0"/>
          </a:p>
        </p:txBody>
      </p:sp>
      <p:sp>
        <p:nvSpPr>
          <p:cNvPr id="19" name="flow Join"/>
          <p:cNvSpPr/>
          <p:nvPr/>
        </p:nvSpPr>
        <p:spPr>
          <a:xfrm>
            <a:off x="6172200" y="1920240"/>
            <a:ext cx="1691640" cy="2743200"/>
          </a:xfrm>
          <a:prstGeom prst="rect">
            <a:avLst/>
          </a:prstGeom>
          <a:solidFill>
            <a:schemeClr val="bg2"/>
          </a:solidFill>
          <a:ln/>
        </p:spPr>
      </p:sp>
      <p:sp>
        <p:nvSpPr>
          <p:cNvPr id="20" name="flow 4 circle"/>
          <p:cNvSpPr/>
          <p:nvPr/>
        </p:nvSpPr>
        <p:spPr>
          <a:xfrm>
            <a:off x="6629400" y="2148840"/>
            <a:ext cx="777240" cy="777240"/>
          </a:xfrm>
          <a:prstGeom prst="ellipse">
            <a:avLst/>
          </a:prstGeom>
          <a:solidFill>
            <a:schemeClr val="accent1"/>
          </a:solidFill>
          <a:ln/>
        </p:spPr>
      </p:sp>
      <p:pic>
        <p:nvPicPr>
          <p:cNvPr id="21" name="flow 4 icon" descr="preencoded.png"/>
          <p:cNvPicPr>
            <a:picLocks noChangeAspect="1"/>
          </p:cNvPicPr>
          <p:nvPr/>
        </p:nvPicPr>
        <p:blipFill>
          <a:blip r:embed="rId6"/>
          <a:stretch>
            <a:fillRect/>
          </a:stretch>
        </p:blipFill>
        <p:spPr>
          <a:xfrm>
            <a:off x="6831482" y="2350922"/>
            <a:ext cx="373075" cy="373075"/>
          </a:xfrm>
          <a:prstGeom prst="rect">
            <a:avLst/>
          </a:prstGeom>
        </p:spPr>
      </p:pic>
      <p:sp>
        <p:nvSpPr>
          <p:cNvPr id="22" name="Text 16"/>
          <p:cNvSpPr txBox="1"/>
          <p:nvPr/>
        </p:nvSpPr>
        <p:spPr>
          <a:xfrm>
            <a:off x="6309360" y="3063240"/>
            <a:ext cx="1417320" cy="365760"/>
          </a:xfrm>
          <a:prstGeom prst="rect">
            <a:avLst/>
          </a:prstGeom>
          <a:noFill/>
          <a:ln/>
        </p:spPr>
        <p:txBody>
          <a:bodyPr wrap="square" lIns="0" tIns="0" rIns="0" bIns="0" rtlCol="0" anchor="t"/>
          <a:lstStyle/>
          <a:p>
            <a:pPr marL="0" indent="0" algn="ctr">
              <a:buNone/>
            </a:pPr>
            <a:r>
              <a:rPr lang="en-US" sz="1600" b="1" dirty="0">
                <a:solidFill>
                  <a:schemeClr val="tx1"/>
                </a:solidFill>
              </a:rPr>
              <a:t>Join</a:t>
            </a:r>
            <a:endParaRPr lang="en-US" sz="1600" dirty="0"/>
          </a:p>
        </p:txBody>
      </p:sp>
      <p:sp>
        <p:nvSpPr>
          <p:cNvPr id="23" name="Text 17"/>
          <p:cNvSpPr txBox="1"/>
          <p:nvPr/>
        </p:nvSpPr>
        <p:spPr>
          <a:xfrm>
            <a:off x="6309360" y="3474720"/>
            <a:ext cx="1417320" cy="1097280"/>
          </a:xfrm>
          <a:prstGeom prst="rect">
            <a:avLst/>
          </a:prstGeom>
          <a:noFill/>
          <a:ln/>
        </p:spPr>
        <p:txBody>
          <a:bodyPr wrap="square" lIns="0" tIns="0" rIns="0" bIns="0" rtlCol="0" anchor="t"/>
          <a:lstStyle/>
          <a:p>
            <a:pPr marL="0" indent="0" algn="ctr">
              <a:buNone/>
            </a:pPr>
            <a:r>
              <a:rPr lang="en-US" sz="1200" dirty="0">
                <a:solidFill>
                  <a:schemeClr val="tx2"/>
                </a:solidFill>
              </a:rPr>
              <a:t>Orders with products and customers</a:t>
            </a:r>
            <a:endParaRPr lang="en-US" sz="1200" dirty="0"/>
          </a:p>
        </p:txBody>
      </p:sp>
      <p:sp>
        <p:nvSpPr>
          <p:cNvPr id="24" name="flow Calculate"/>
          <p:cNvSpPr/>
          <p:nvPr/>
        </p:nvSpPr>
        <p:spPr>
          <a:xfrm>
            <a:off x="8046720" y="1920240"/>
            <a:ext cx="1691640" cy="2743200"/>
          </a:xfrm>
          <a:prstGeom prst="rect">
            <a:avLst/>
          </a:prstGeom>
          <a:solidFill>
            <a:schemeClr val="bg2"/>
          </a:solidFill>
          <a:ln/>
        </p:spPr>
      </p:sp>
      <p:sp>
        <p:nvSpPr>
          <p:cNvPr id="25" name="flow 5 circle"/>
          <p:cNvSpPr/>
          <p:nvPr/>
        </p:nvSpPr>
        <p:spPr>
          <a:xfrm>
            <a:off x="8503920" y="2148840"/>
            <a:ext cx="777240" cy="777240"/>
          </a:xfrm>
          <a:prstGeom prst="ellipse">
            <a:avLst/>
          </a:prstGeom>
          <a:solidFill>
            <a:schemeClr val="accent1"/>
          </a:solidFill>
          <a:ln/>
        </p:spPr>
      </p:sp>
      <p:pic>
        <p:nvPicPr>
          <p:cNvPr id="26" name="flow 5 icon" descr="preencoded.png"/>
          <p:cNvPicPr>
            <a:picLocks noChangeAspect="1"/>
          </p:cNvPicPr>
          <p:nvPr/>
        </p:nvPicPr>
        <p:blipFill>
          <a:blip r:embed="rId7"/>
          <a:stretch>
            <a:fillRect/>
          </a:stretch>
        </p:blipFill>
        <p:spPr>
          <a:xfrm>
            <a:off x="8706002" y="2350922"/>
            <a:ext cx="373075" cy="373075"/>
          </a:xfrm>
          <a:prstGeom prst="rect">
            <a:avLst/>
          </a:prstGeom>
        </p:spPr>
      </p:pic>
      <p:sp>
        <p:nvSpPr>
          <p:cNvPr id="27" name="Text 20"/>
          <p:cNvSpPr txBox="1"/>
          <p:nvPr/>
        </p:nvSpPr>
        <p:spPr>
          <a:xfrm>
            <a:off x="8183880" y="3063240"/>
            <a:ext cx="1417320" cy="365760"/>
          </a:xfrm>
          <a:prstGeom prst="rect">
            <a:avLst/>
          </a:prstGeom>
          <a:noFill/>
          <a:ln/>
        </p:spPr>
        <p:txBody>
          <a:bodyPr wrap="square" lIns="0" tIns="0" rIns="0" bIns="0" rtlCol="0" anchor="t"/>
          <a:lstStyle/>
          <a:p>
            <a:pPr marL="0" indent="0" algn="ctr">
              <a:buNone/>
            </a:pPr>
            <a:r>
              <a:rPr lang="en-US" sz="1600" b="1" dirty="0">
                <a:solidFill>
                  <a:schemeClr val="tx1"/>
                </a:solidFill>
              </a:rPr>
              <a:t>Calculate</a:t>
            </a:r>
            <a:endParaRPr lang="en-US" sz="1600" dirty="0"/>
          </a:p>
        </p:txBody>
      </p:sp>
      <p:sp>
        <p:nvSpPr>
          <p:cNvPr id="28" name="Text 21"/>
          <p:cNvSpPr txBox="1"/>
          <p:nvPr/>
        </p:nvSpPr>
        <p:spPr>
          <a:xfrm>
            <a:off x="8183880" y="3474720"/>
            <a:ext cx="1417320" cy="1097280"/>
          </a:xfrm>
          <a:prstGeom prst="rect">
            <a:avLst/>
          </a:prstGeom>
          <a:noFill/>
          <a:ln/>
        </p:spPr>
        <p:txBody>
          <a:bodyPr wrap="square" lIns="0" tIns="0" rIns="0" bIns="0" rtlCol="0" anchor="t"/>
          <a:lstStyle/>
          <a:p>
            <a:pPr marL="0" indent="0" algn="ctr">
              <a:buNone/>
            </a:pPr>
            <a:r>
              <a:rPr lang="en-US" sz="1200" dirty="0">
                <a:solidFill>
                  <a:schemeClr val="tx2"/>
                </a:solidFill>
              </a:rPr>
              <a:t>Revenue = qty × price × (1 − discount)</a:t>
            </a:r>
            <a:endParaRPr lang="en-US" sz="1200" dirty="0"/>
          </a:p>
        </p:txBody>
      </p:sp>
      <p:sp>
        <p:nvSpPr>
          <p:cNvPr id="29" name="flow Output"/>
          <p:cNvSpPr/>
          <p:nvPr/>
        </p:nvSpPr>
        <p:spPr>
          <a:xfrm>
            <a:off x="9921240" y="1920240"/>
            <a:ext cx="1691640" cy="2743200"/>
          </a:xfrm>
          <a:prstGeom prst="rect">
            <a:avLst/>
          </a:prstGeom>
          <a:solidFill>
            <a:srgbClr val="FFE9DE"/>
          </a:solidFill>
          <a:ln/>
        </p:spPr>
      </p:sp>
      <p:sp>
        <p:nvSpPr>
          <p:cNvPr id="30" name="flow 6 circle"/>
          <p:cNvSpPr/>
          <p:nvPr/>
        </p:nvSpPr>
        <p:spPr>
          <a:xfrm>
            <a:off x="10378440" y="2148840"/>
            <a:ext cx="777240" cy="777240"/>
          </a:xfrm>
          <a:prstGeom prst="ellipse">
            <a:avLst/>
          </a:prstGeom>
          <a:solidFill>
            <a:schemeClr val="accent1"/>
          </a:solidFill>
          <a:ln/>
        </p:spPr>
      </p:sp>
      <p:pic>
        <p:nvPicPr>
          <p:cNvPr id="31" name="flow 6 icon" descr="preencoded.png"/>
          <p:cNvPicPr>
            <a:picLocks noChangeAspect="1"/>
          </p:cNvPicPr>
          <p:nvPr/>
        </p:nvPicPr>
        <p:blipFill>
          <a:blip r:embed="rId8"/>
          <a:stretch>
            <a:fillRect/>
          </a:stretch>
        </p:blipFill>
        <p:spPr>
          <a:xfrm>
            <a:off x="10580522" y="2350922"/>
            <a:ext cx="373075" cy="373075"/>
          </a:xfrm>
          <a:prstGeom prst="rect">
            <a:avLst/>
          </a:prstGeom>
        </p:spPr>
      </p:pic>
      <p:sp>
        <p:nvSpPr>
          <p:cNvPr id="32" name="Text 24"/>
          <p:cNvSpPr txBox="1"/>
          <p:nvPr/>
        </p:nvSpPr>
        <p:spPr>
          <a:xfrm>
            <a:off x="10058400" y="3063240"/>
            <a:ext cx="1417320" cy="365760"/>
          </a:xfrm>
          <a:prstGeom prst="rect">
            <a:avLst/>
          </a:prstGeom>
          <a:noFill/>
          <a:ln/>
        </p:spPr>
        <p:txBody>
          <a:bodyPr wrap="square" lIns="0" tIns="0" rIns="0" bIns="0" rtlCol="0" anchor="t"/>
          <a:lstStyle/>
          <a:p>
            <a:pPr marL="0" indent="0" algn="ctr">
              <a:buNone/>
            </a:pPr>
            <a:r>
              <a:rPr lang="en-US" sz="1600" b="1" dirty="0">
                <a:solidFill>
                  <a:schemeClr val="tx1"/>
                </a:solidFill>
              </a:rPr>
              <a:t>Output</a:t>
            </a:r>
            <a:endParaRPr lang="en-US" sz="1600" dirty="0"/>
          </a:p>
        </p:txBody>
      </p:sp>
      <p:sp>
        <p:nvSpPr>
          <p:cNvPr id="33" name="Text 25"/>
          <p:cNvSpPr txBox="1"/>
          <p:nvPr/>
        </p:nvSpPr>
        <p:spPr>
          <a:xfrm>
            <a:off x="10058400" y="3474720"/>
            <a:ext cx="1417320" cy="1097280"/>
          </a:xfrm>
          <a:prstGeom prst="rect">
            <a:avLst/>
          </a:prstGeom>
          <a:noFill/>
          <a:ln/>
        </p:spPr>
        <p:txBody>
          <a:bodyPr wrap="square" lIns="0" tIns="0" rIns="0" bIns="0" rtlCol="0" anchor="t"/>
          <a:lstStyle/>
          <a:p>
            <a:pPr marL="0" indent="0" algn="ctr">
              <a:buNone/>
            </a:pPr>
            <a:r>
              <a:rPr lang="en-US" sz="1200" dirty="0">
                <a:solidFill>
                  <a:schemeClr val="tx2"/>
                </a:solidFill>
              </a:rPr>
              <a:t>3 summary sheets written to Excel</a:t>
            </a:r>
            <a:endParaRPr lang="en-US" sz="1200" dirty="0"/>
          </a:p>
        </p:txBody>
      </p:sp>
      <p:sp>
        <p:nvSpPr>
          <p:cNvPr id="34" name="Text 26"/>
          <p:cNvSpPr txBox="1"/>
          <p:nvPr/>
        </p:nvSpPr>
        <p:spPr>
          <a:xfrm>
            <a:off x="548640" y="5029200"/>
            <a:ext cx="11064240" cy="548640"/>
          </a:xfrm>
          <a:prstGeom prst="rect">
            <a:avLst/>
          </a:prstGeom>
          <a:noFill/>
          <a:ln/>
        </p:spPr>
        <p:txBody>
          <a:bodyPr wrap="square" lIns="0" tIns="0" rIns="0" bIns="0" rtlCol="0" anchor="t"/>
          <a:lstStyle/>
          <a:p>
            <a:pPr marL="0" indent="0">
              <a:buNone/>
            </a:pPr>
            <a:r>
              <a:rPr lang="en-US" sz="1600" dirty="0">
                <a:solidFill>
                  <a:schemeClr val="tx2"/>
                </a:solidFill>
              </a:rPr>
              <a:t>Sample data was made deliberately messy, and every result was checked against totals calculated separately outside KNIME.</a:t>
            </a:r>
            <a:endParaRPr lang="en-US" sz="1600" dirty="0"/>
          </a:p>
        </p:txBody>
      </p:sp>
      <p:sp>
        <p:nvSpPr>
          <p:cNvPr id="3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7D7D"/>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9144000" cy="320040"/>
          </a:xfrm>
          <a:prstGeom prst="rect">
            <a:avLst/>
          </a:prstGeom>
          <a:noFill/>
          <a:ln/>
        </p:spPr>
        <p:txBody>
          <a:bodyPr wrap="square" lIns="0" tIns="0" rIns="0" bIns="0" rtlCol="0"/>
          <a:lstStyle/>
          <a:p>
            <a:pPr marL="0" indent="0" algn="l">
              <a:buNone/>
            </a:pPr>
            <a:r>
              <a:rPr lang="en-US" sz="1200" b="1" kern="0" spc="200" dirty="0">
                <a:solidFill>
                  <a:schemeClr val="accent2"/>
                </a:solidFill>
              </a:rPr>
              <a:t>03 · DATA QUALITY</a:t>
            </a:r>
            <a:endParaRPr lang="en-US" sz="1200" dirty="0"/>
          </a:p>
        </p:txBody>
      </p:sp>
      <p:sp>
        <p:nvSpPr>
          <p:cNvPr id="3" name="Text 0"/>
          <p:cNvSpPr>
            <a:spLocks noGrp="1"/>
          </p:cNvSpPr>
          <p:nvPr>
            <p:ph type="title" idx="101" hasCustomPrompt="1"/>
          </p:nvPr>
        </p:nvSpPr>
        <p:spPr>
          <a:xfrm>
            <a:off x="548640" y="731520"/>
            <a:ext cx="11064240" cy="822960"/>
          </a:xfrm>
          <a:prstGeom prst="rect">
            <a:avLst/>
          </a:prstGeom>
          <a:noFill/>
          <a:ln/>
        </p:spPr>
        <p:txBody>
          <a:bodyPr wrap="square" lIns="0" tIns="0" rIns="0" bIns="0" rtlCol="0" anchor="t"/>
          <a:lstStyle/>
          <a:p>
            <a:pPr marL="0" indent="0" algn="l">
              <a:buNone/>
            </a:pPr>
            <a:r>
              <a:rPr lang="en-US" sz="3000" b="1" dirty="0">
                <a:solidFill>
                  <a:schemeClr val="tx1"/>
                </a:solidFill>
                <a:latin typeface="Georgia" pitchFamily="34" charset="0"/>
                <a:ea typeface="Georgia" pitchFamily="34" charset="-122"/>
                <a:cs typeface="Georgia" pitchFamily="34" charset="-120"/>
              </a:rPr>
              <a:t>Real-world data problems the workflow handles</a:t>
            </a:r>
            <a:endParaRPr lang="en-US" sz="3000" dirty="0"/>
          </a:p>
        </p:txBody>
      </p:sp>
      <p:graphicFrame>
        <p:nvGraphicFramePr>
          <p:cNvPr id="15" name="table"/>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4572000">
                  <a:extLst>
                    <a:ext uri="{9D8B030D-6E8A-4147-A177-3AD203B41FA5}">
                      <a16:colId xmlns:a16="http://schemas.microsoft.com/office/drawing/2014/main" val="20000"/>
                    </a:ext>
                  </a:extLst>
                </a:gridCol>
                <a:gridCol w="2377440">
                  <a:extLst>
                    <a:ext uri="{9D8B030D-6E8A-4147-A177-3AD203B41FA5}">
                      <a16:colId xmlns:a16="http://schemas.microsoft.com/office/drawing/2014/main" val="20001"/>
                    </a:ext>
                  </a:extLst>
                </a:gridCol>
                <a:gridCol w="4114800">
                  <a:extLst>
                    <a:ext uri="{9D8B030D-6E8A-4147-A177-3AD203B41FA5}">
                      <a16:colId xmlns:a16="http://schemas.microsoft.com/office/drawing/2014/main" val="20002"/>
                    </a:ext>
                  </a:extLst>
                </a:gridCol>
              </a:tblGrid>
              <a:tr h="502920">
                <a:tc>
                  <a:txBody>
                    <a:bodyPr/>
                    <a:lstStyle/>
                    <a:p>
                      <a:pPr marL="0" indent="0">
                        <a:buNone/>
                      </a:pPr>
                      <a:r>
                        <a:rPr lang="en-US" sz="1400" b="1" dirty="0">
                          <a:solidFill>
                            <a:schemeClr val="bg1"/>
                          </a:solidFill>
                          <a:latin typeface="Arial" pitchFamily="34" charset="0"/>
                          <a:ea typeface="Arial" pitchFamily="34" charset="-122"/>
                          <a:cs typeface="Arial" pitchFamily="34" charset="-120"/>
                        </a:rPr>
                        <a:t>Problem in the data</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Arial" pitchFamily="34" charset="0"/>
                          <a:ea typeface="Arial" pitchFamily="34" charset="-122"/>
                          <a:cs typeface="Arial" pitchFamily="34" charset="-120"/>
                        </a:rPr>
                        <a:t>Size (10K file)</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Arial" pitchFamily="34" charset="0"/>
                          <a:ea typeface="Arial" pitchFamily="34" charset="-122"/>
                          <a:cs typeface="Arial" pitchFamily="34" charset="-120"/>
                        </a:rPr>
                        <a:t>KNIME node used</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02920">
                <a:tc>
                  <a:txBody>
                    <a:bodyPr/>
                    <a:lstStyle/>
                    <a:p>
                      <a:pPr marL="0" indent="0">
                        <a:buNone/>
                      </a:pPr>
                      <a:r>
                        <a:rPr lang="en-US" sz="1400" dirty="0">
                          <a:solidFill>
                            <a:schemeClr val="tx1"/>
                          </a:solidFill>
                          <a:latin typeface="Arial" pitchFamily="34" charset="0"/>
                          <a:ea typeface="Arial" pitchFamily="34" charset="-122"/>
                          <a:cs typeface="Arial" pitchFamily="34" charset="-120"/>
                        </a:rPr>
                        <a:t>Exact duplicate order rows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46 rows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Duplicate Row Filter</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02920">
                <a:tc>
                  <a:txBody>
                    <a:bodyPr/>
                    <a:lstStyle/>
                    <a:p>
                      <a:pPr marL="0" indent="0">
                        <a:buNone/>
                      </a:pPr>
                      <a:r>
                        <a:rPr lang="en-US" sz="1400" dirty="0">
                          <a:solidFill>
                            <a:schemeClr val="tx1"/>
                          </a:solidFill>
                          <a:latin typeface="Arial" pitchFamily="34" charset="0"/>
                          <a:ea typeface="Arial" pitchFamily="34" charset="-122"/>
                          <a:cs typeface="Arial" pitchFamily="34" charset="-120"/>
                        </a:rPr>
                        <a:t>Two date formats mixed together</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 10% of rows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String Manipulation + Rule Engine</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02920">
                <a:tc>
                  <a:txBody>
                    <a:bodyPr/>
                    <a:lstStyle/>
                    <a:p>
                      <a:pPr marL="0" indent="0">
                        <a:buNone/>
                      </a:pPr>
                      <a:r>
                        <a:rPr lang="en-US" sz="1400" dirty="0">
                          <a:solidFill>
                            <a:schemeClr val="tx1"/>
                          </a:solidFill>
                          <a:latin typeface="Arial" pitchFamily="34" charset="0"/>
                          <a:ea typeface="Arial" pitchFamily="34" charset="-122"/>
                          <a:cs typeface="Arial" pitchFamily="34" charset="-120"/>
                        </a:rPr>
                        <a:t>Blank quantity</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194 rows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Rule-based Row Filter</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02920">
                <a:tc>
                  <a:txBody>
                    <a:bodyPr/>
                    <a:lstStyle/>
                    <a:p>
                      <a:pPr marL="0" indent="0">
                        <a:buNone/>
                      </a:pPr>
                      <a:r>
                        <a:rPr lang="en-US" sz="1400" dirty="0">
                          <a:solidFill>
                            <a:schemeClr val="tx1"/>
                          </a:solidFill>
                          <a:latin typeface="Arial" pitchFamily="34" charset="0"/>
                          <a:ea typeface="Arial" pitchFamily="34" charset="-122"/>
                          <a:cs typeface="Arial" pitchFamily="34" charset="-120"/>
                        </a:rPr>
                        <a:t>Region typed inconsistently (NORTH, North)</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 5% of customers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String Manipulation</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02920">
                <a:tc>
                  <a:txBody>
                    <a:bodyPr/>
                    <a:lstStyle/>
                    <a:p>
                      <a:pPr marL="0" indent="0">
                        <a:buNone/>
                      </a:pPr>
                      <a:r>
                        <a:rPr lang="en-US" sz="1400" dirty="0">
                          <a:solidFill>
                            <a:schemeClr val="tx1"/>
                          </a:solidFill>
                          <a:latin typeface="Arial" pitchFamily="34" charset="0"/>
                          <a:ea typeface="Arial" pitchFamily="34" charset="-122"/>
                          <a:cs typeface="Arial" pitchFamily="34" charset="-120"/>
                        </a:rPr>
                        <a:t>Cancelled and returned orders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 20% of rows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Rule-based Row Filter</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48640" y="5120640"/>
            <a:ext cx="11064240" cy="548640"/>
          </a:xfrm>
          <a:prstGeom prst="rect">
            <a:avLst/>
          </a:prstGeom>
          <a:noFill/>
          <a:ln/>
        </p:spPr>
        <p:txBody>
          <a:bodyPr wrap="square" lIns="0" tIns="0" rIns="0" bIns="0" rtlCol="0" anchor="t"/>
          <a:lstStyle/>
          <a:p>
            <a:pPr marL="0" indent="0">
              <a:buNone/>
            </a:pPr>
            <a:r>
              <a:rPr lang="en-US" sz="1600" dirty="0">
                <a:solidFill>
                  <a:schemeClr val="tx2"/>
                </a:solidFill>
              </a:rPr>
              <a:t>The same kinds of problem appear in tax data: GSTIN typos, mixed invoice-date formats, blank fields, duplicate entries.</a:t>
            </a:r>
            <a:endParaRPr lang="en-US" sz="1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7D7D"/>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9144000" cy="320040"/>
          </a:xfrm>
          <a:prstGeom prst="rect">
            <a:avLst/>
          </a:prstGeom>
          <a:noFill/>
          <a:ln/>
        </p:spPr>
        <p:txBody>
          <a:bodyPr wrap="square" lIns="0" tIns="0" rIns="0" bIns="0" rtlCol="0"/>
          <a:lstStyle/>
          <a:p>
            <a:pPr marL="0" indent="0" algn="l">
              <a:buNone/>
            </a:pPr>
            <a:r>
              <a:rPr lang="en-US" sz="1200" b="1" kern="0" spc="200" dirty="0">
                <a:solidFill>
                  <a:schemeClr val="accent2"/>
                </a:solidFill>
              </a:rPr>
              <a:t>03 · RESULTS</a:t>
            </a:r>
            <a:endParaRPr lang="en-US" sz="1200" dirty="0"/>
          </a:p>
        </p:txBody>
      </p:sp>
      <p:sp>
        <p:nvSpPr>
          <p:cNvPr id="3" name="Text 0"/>
          <p:cNvSpPr>
            <a:spLocks noGrp="1"/>
          </p:cNvSpPr>
          <p:nvPr>
            <p:ph type="title" idx="101" hasCustomPrompt="1"/>
          </p:nvPr>
        </p:nvSpPr>
        <p:spPr>
          <a:xfrm>
            <a:off x="548640" y="731520"/>
            <a:ext cx="11064240" cy="822960"/>
          </a:xfrm>
          <a:prstGeom prst="rect">
            <a:avLst/>
          </a:prstGeom>
          <a:noFill/>
          <a:ln/>
        </p:spPr>
        <p:txBody>
          <a:bodyPr wrap="square" lIns="0" tIns="0" rIns="0" bIns="0" rtlCol="0" anchor="t"/>
          <a:lstStyle/>
          <a:p>
            <a:pPr marL="0" indent="0" algn="l">
              <a:buNone/>
            </a:pPr>
            <a:r>
              <a:rPr lang="en-US" sz="3000" b="1" dirty="0">
                <a:solidFill>
                  <a:schemeClr val="tx1"/>
                </a:solidFill>
                <a:latin typeface="Georgia" pitchFamily="34" charset="0"/>
                <a:ea typeface="Georgia" pitchFamily="34" charset="-122"/>
                <a:cs typeface="Georgia" pitchFamily="34" charset="-120"/>
              </a:rPr>
              <a:t>Results tie out to an independent calculation</a:t>
            </a:r>
            <a:endParaRPr lang="en-US" sz="3000" dirty="0"/>
          </a:p>
        </p:txBody>
      </p:sp>
      <p:sp>
        <p:nvSpPr>
          <p:cNvPr id="4" name="result 1"/>
          <p:cNvSpPr/>
          <p:nvPr/>
        </p:nvSpPr>
        <p:spPr>
          <a:xfrm>
            <a:off x="548640" y="1737360"/>
            <a:ext cx="3520440" cy="1783080"/>
          </a:xfrm>
          <a:prstGeom prst="rect">
            <a:avLst/>
          </a:prstGeom>
          <a:solidFill>
            <a:schemeClr val="bg2"/>
          </a:solidFill>
          <a:ln/>
        </p:spPr>
      </p:sp>
      <p:sp>
        <p:nvSpPr>
          <p:cNvPr id="5" name="Text 3"/>
          <p:cNvSpPr txBox="1"/>
          <p:nvPr/>
        </p:nvSpPr>
        <p:spPr>
          <a:xfrm>
            <a:off x="868680" y="1920240"/>
            <a:ext cx="2926080" cy="777240"/>
          </a:xfrm>
          <a:prstGeom prst="rect">
            <a:avLst/>
          </a:prstGeom>
          <a:noFill/>
          <a:ln/>
        </p:spPr>
        <p:txBody>
          <a:bodyPr wrap="square" lIns="0" tIns="0" rIns="0" bIns="0" rtlCol="0" anchor="t"/>
          <a:lstStyle/>
          <a:p>
            <a:pPr marL="0" indent="0">
              <a:buNone/>
            </a:pPr>
            <a:r>
              <a:rPr lang="en-US" sz="4000" b="1" dirty="0">
                <a:solidFill>
                  <a:schemeClr val="accent1"/>
                </a:solidFill>
                <a:latin typeface="Georgia" pitchFamily="34" charset="0"/>
                <a:ea typeface="Georgia" pitchFamily="34" charset="-122"/>
                <a:cs typeface="Georgia" pitchFamily="34" charset="-120"/>
              </a:rPr>
              <a:t>7,819</a:t>
            </a:r>
            <a:endParaRPr lang="en-US" sz="4000" dirty="0"/>
          </a:p>
        </p:txBody>
      </p:sp>
      <p:sp>
        <p:nvSpPr>
          <p:cNvPr id="6" name="Text 4"/>
          <p:cNvSpPr txBox="1"/>
          <p:nvPr/>
        </p:nvSpPr>
        <p:spPr>
          <a:xfrm>
            <a:off x="868680" y="2743200"/>
            <a:ext cx="2926080" cy="640080"/>
          </a:xfrm>
          <a:prstGeom prst="rect">
            <a:avLst/>
          </a:prstGeom>
          <a:noFill/>
          <a:ln/>
        </p:spPr>
        <p:txBody>
          <a:bodyPr wrap="square" lIns="0" tIns="0" rIns="0" bIns="0" rtlCol="0" anchor="t"/>
          <a:lstStyle/>
          <a:p>
            <a:pPr marL="0" indent="0">
              <a:buNone/>
            </a:pPr>
            <a:r>
              <a:rPr lang="en-US" sz="1300" dirty="0">
                <a:solidFill>
                  <a:schemeClr val="tx2"/>
                </a:solidFill>
              </a:rPr>
              <a:t>clean, matched rows from 10,046 raw (10K file)</a:t>
            </a:r>
            <a:endParaRPr lang="en-US" sz="1300" dirty="0"/>
          </a:p>
        </p:txBody>
      </p:sp>
      <p:sp>
        <p:nvSpPr>
          <p:cNvPr id="7" name="result 2"/>
          <p:cNvSpPr/>
          <p:nvPr/>
        </p:nvSpPr>
        <p:spPr>
          <a:xfrm>
            <a:off x="4297680" y="1737360"/>
            <a:ext cx="3520440" cy="1783080"/>
          </a:xfrm>
          <a:prstGeom prst="rect">
            <a:avLst/>
          </a:prstGeom>
          <a:solidFill>
            <a:schemeClr val="bg2"/>
          </a:solidFill>
          <a:ln/>
        </p:spPr>
      </p:sp>
      <p:sp>
        <p:nvSpPr>
          <p:cNvPr id="8" name="Text 6"/>
          <p:cNvSpPr txBox="1"/>
          <p:nvPr/>
        </p:nvSpPr>
        <p:spPr>
          <a:xfrm>
            <a:off x="4617720" y="1920240"/>
            <a:ext cx="2926080" cy="777240"/>
          </a:xfrm>
          <a:prstGeom prst="rect">
            <a:avLst/>
          </a:prstGeom>
          <a:noFill/>
          <a:ln/>
        </p:spPr>
        <p:txBody>
          <a:bodyPr wrap="square" lIns="0" tIns="0" rIns="0" bIns="0" rtlCol="0" anchor="t"/>
          <a:lstStyle/>
          <a:p>
            <a:pPr marL="0" indent="0">
              <a:buNone/>
            </a:pPr>
            <a:r>
              <a:rPr lang="en-US" sz="4000" b="1" dirty="0">
                <a:solidFill>
                  <a:schemeClr val="accent1"/>
                </a:solidFill>
                <a:latin typeface="Georgia" pitchFamily="34" charset="0"/>
                <a:ea typeface="Georgia" pitchFamily="34" charset="-122"/>
                <a:cs typeface="Georgia" pitchFamily="34" charset="-120"/>
              </a:rPr>
              <a:t>705.2M</a:t>
            </a:r>
            <a:endParaRPr lang="en-US" sz="4000" dirty="0"/>
          </a:p>
        </p:txBody>
      </p:sp>
      <p:sp>
        <p:nvSpPr>
          <p:cNvPr id="9" name="Text 7"/>
          <p:cNvSpPr txBox="1"/>
          <p:nvPr/>
        </p:nvSpPr>
        <p:spPr>
          <a:xfrm>
            <a:off x="4617720" y="2743200"/>
            <a:ext cx="2926080" cy="640080"/>
          </a:xfrm>
          <a:prstGeom prst="rect">
            <a:avLst/>
          </a:prstGeom>
          <a:noFill/>
          <a:ln/>
        </p:spPr>
        <p:txBody>
          <a:bodyPr wrap="square" lIns="0" tIns="0" rIns="0" bIns="0" rtlCol="0" anchor="t"/>
          <a:lstStyle/>
          <a:p>
            <a:pPr marL="0" indent="0">
              <a:buNone/>
            </a:pPr>
            <a:r>
              <a:rPr lang="en-US" sz="1300" dirty="0">
                <a:solidFill>
                  <a:schemeClr val="tx2"/>
                </a:solidFill>
              </a:rPr>
              <a:t>total revenue, same figure as the independent check</a:t>
            </a:r>
            <a:endParaRPr lang="en-US" sz="1300" dirty="0"/>
          </a:p>
        </p:txBody>
      </p:sp>
      <p:sp>
        <p:nvSpPr>
          <p:cNvPr id="10" name="result 3"/>
          <p:cNvSpPr/>
          <p:nvPr/>
        </p:nvSpPr>
        <p:spPr>
          <a:xfrm>
            <a:off x="8046720" y="1737360"/>
            <a:ext cx="3520440" cy="1783080"/>
          </a:xfrm>
          <a:prstGeom prst="rect">
            <a:avLst/>
          </a:prstGeom>
          <a:solidFill>
            <a:schemeClr val="bg2"/>
          </a:solidFill>
          <a:ln/>
        </p:spPr>
      </p:sp>
      <p:sp>
        <p:nvSpPr>
          <p:cNvPr id="11" name="Text 9"/>
          <p:cNvSpPr txBox="1"/>
          <p:nvPr/>
        </p:nvSpPr>
        <p:spPr>
          <a:xfrm>
            <a:off x="8366760" y="1920240"/>
            <a:ext cx="2926080" cy="777240"/>
          </a:xfrm>
          <a:prstGeom prst="rect">
            <a:avLst/>
          </a:prstGeom>
          <a:noFill/>
          <a:ln/>
        </p:spPr>
        <p:txBody>
          <a:bodyPr wrap="square" lIns="0" tIns="0" rIns="0" bIns="0" rtlCol="0" anchor="t"/>
          <a:lstStyle/>
          <a:p>
            <a:pPr marL="0" indent="0">
              <a:buNone/>
            </a:pPr>
            <a:r>
              <a:rPr lang="en-US" sz="4000" b="1" dirty="0">
                <a:solidFill>
                  <a:schemeClr val="accent1"/>
                </a:solidFill>
                <a:latin typeface="Georgia" pitchFamily="34" charset="0"/>
                <a:ea typeface="Georgia" pitchFamily="34" charset="-122"/>
                <a:cs typeface="Georgia" pitchFamily="34" charset="-120"/>
              </a:rPr>
              <a:t>783,759</a:t>
            </a:r>
            <a:endParaRPr lang="en-US" sz="4000" dirty="0"/>
          </a:p>
        </p:txBody>
      </p:sp>
      <p:sp>
        <p:nvSpPr>
          <p:cNvPr id="12" name="Text 10"/>
          <p:cNvSpPr txBox="1"/>
          <p:nvPr/>
        </p:nvSpPr>
        <p:spPr>
          <a:xfrm>
            <a:off x="8366760" y="2743200"/>
            <a:ext cx="2926080" cy="640080"/>
          </a:xfrm>
          <a:prstGeom prst="rect">
            <a:avLst/>
          </a:prstGeom>
          <a:noFill/>
          <a:ln/>
        </p:spPr>
        <p:txBody>
          <a:bodyPr wrap="square" lIns="0" tIns="0" rIns="0" bIns="0" rtlCol="0" anchor="t"/>
          <a:lstStyle/>
          <a:p>
            <a:pPr marL="0" indent="0">
              <a:buNone/>
            </a:pPr>
            <a:r>
              <a:rPr lang="en-US" sz="1300" dirty="0">
                <a:solidFill>
                  <a:schemeClr val="tx2"/>
                </a:solidFill>
              </a:rPr>
              <a:t>rows from the 1M-row benchmark file</a:t>
            </a:r>
            <a:endParaRPr lang="en-US" sz="1300" dirty="0"/>
          </a:p>
        </p:txBody>
      </p:sp>
      <p:graphicFrame>
        <p:nvGraphicFramePr>
          <p:cNvPr id="16" name="table"/>
          <p:cNvGraphicFramePr>
            <a:graphicFrameLocks noGrp="1"/>
          </p:cNvGraphicFramePr>
          <p:nvPr>
            <p:extLst>
              <p:ext uri="{D42A27DB-BD31-4B8C-83A1-F6EECF244321}">
                <p14:modId xmlns:p14="http://schemas.microsoft.com/office/powerpoint/2010/main" val="1579011935"/>
              </p:ext>
            </p:extLst>
          </p:nvPr>
        </p:nvGraphicFramePr>
        <p:xfrm>
          <a:off x="548640" y="3794760"/>
          <a:ext cx="11064240" cy="914400"/>
        </p:xfrm>
        <a:graphic>
          <a:graphicData uri="http://schemas.openxmlformats.org/drawingml/2006/table">
            <a:tbl>
              <a:tblPr/>
              <a:tblGrid>
                <a:gridCol w="466344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gridCol w="3200400">
                  <a:extLst>
                    <a:ext uri="{9D8B030D-6E8A-4147-A177-3AD203B41FA5}">
                      <a16:colId xmlns:a16="http://schemas.microsoft.com/office/drawing/2014/main" val="20002"/>
                    </a:ext>
                  </a:extLst>
                </a:gridCol>
              </a:tblGrid>
              <a:tr h="457200">
                <a:tc>
                  <a:txBody>
                    <a:bodyPr/>
                    <a:lstStyle/>
                    <a:p>
                      <a:pPr marL="0" indent="0">
                        <a:buNone/>
                      </a:pPr>
                      <a:r>
                        <a:rPr lang="en-US" sz="1400" b="1" dirty="0">
                          <a:solidFill>
                            <a:schemeClr val="bg1"/>
                          </a:solidFill>
                          <a:latin typeface="Arial" pitchFamily="34" charset="0"/>
                          <a:ea typeface="Arial" pitchFamily="34" charset="-122"/>
                          <a:cs typeface="Arial" pitchFamily="34" charset="-120"/>
                        </a:rPr>
                        <a:t>Measure</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Arial" pitchFamily="34" charset="0"/>
                          <a:ea typeface="Arial" pitchFamily="34" charset="-122"/>
                          <a:cs typeface="Arial" pitchFamily="34" charset="-120"/>
                        </a:rPr>
                        <a:t>KNIME</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Arial" pitchFamily="34" charset="0"/>
                          <a:ea typeface="Arial" pitchFamily="34" charset="-122"/>
                          <a:cs typeface="Arial" pitchFamily="34" charset="-120"/>
                        </a:rPr>
                        <a:t>Alteryx</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Run time, 10K rows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[__ sec]</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[__ sec]</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Run time, 1M rows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[__ sec]</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[__ sec]</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457200">
                <a:tc>
                  <a:txBody>
                    <a:bodyPr/>
                    <a:lstStyle/>
                    <a:p>
                      <a:pPr marL="0" indent="0">
                        <a:buNone/>
                      </a:pPr>
                      <a:r>
                        <a:rPr lang="en-US" sz="1400" dirty="0">
                          <a:solidFill>
                            <a:schemeClr val="tx1"/>
                          </a:solidFill>
                          <a:latin typeface="Arial" pitchFamily="34" charset="0"/>
                          <a:ea typeface="Arial" pitchFamily="34" charset="-122"/>
                          <a:cs typeface="Arial" pitchFamily="34" charset="-120"/>
                        </a:rPr>
                        <a:t>Time to build the workflow</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[__ min]</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[__ min]</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bl>
          </a:graphicData>
        </a:graphic>
      </p:graphicFrame>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7D7D"/>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40080"/>
            <a:ext cx="11064240" cy="914400"/>
          </a:xfrm>
          <a:prstGeom prst="rect">
            <a:avLst/>
          </a:prstGeom>
          <a:noFill/>
          <a:ln/>
        </p:spPr>
        <p:txBody>
          <a:bodyPr wrap="square" lIns="0" tIns="0" rIns="0" bIns="0" rtlCol="0" anchor="t"/>
          <a:lstStyle/>
          <a:p>
            <a:pPr marL="0" indent="0" algn="l">
              <a:buNone/>
            </a:pPr>
            <a:r>
              <a:rPr lang="en-US" sz="3600" b="1" dirty="0">
                <a:solidFill>
                  <a:schemeClr val="bg1"/>
                </a:solidFill>
                <a:latin typeface="Georgia" pitchFamily="34" charset="0"/>
                <a:ea typeface="Georgia" pitchFamily="34" charset="-122"/>
                <a:cs typeface="Georgia" pitchFamily="34" charset="-120"/>
              </a:rPr>
              <a:t>Live demo</a:t>
            </a:r>
            <a:endParaRPr lang="en-US" sz="3600" dirty="0"/>
          </a:p>
        </p:txBody>
      </p:sp>
      <p:sp>
        <p:nvSpPr>
          <p:cNvPr id="3" name="demo 1 circle"/>
          <p:cNvSpPr/>
          <p:nvPr/>
        </p:nvSpPr>
        <p:spPr>
          <a:xfrm>
            <a:off x="548640" y="2194560"/>
            <a:ext cx="914400" cy="914400"/>
          </a:xfrm>
          <a:prstGeom prst="ellipse">
            <a:avLst/>
          </a:prstGeom>
          <a:solidFill>
            <a:schemeClr val="accent1"/>
          </a:solidFill>
          <a:ln/>
        </p:spPr>
      </p:sp>
      <p:pic>
        <p:nvPicPr>
          <p:cNvPr id="4" name="demo 1 icon" descr="preencoded.png"/>
          <p:cNvPicPr>
            <a:picLocks noChangeAspect="1"/>
          </p:cNvPicPr>
          <p:nvPr/>
        </p:nvPicPr>
        <p:blipFill>
          <a:blip r:embed="rId3"/>
          <a:stretch>
            <a:fillRect/>
          </a:stretch>
        </p:blipFill>
        <p:spPr>
          <a:xfrm>
            <a:off x="786384" y="2432304"/>
            <a:ext cx="438912" cy="438912"/>
          </a:xfrm>
          <a:prstGeom prst="rect">
            <a:avLst/>
          </a:prstGeom>
        </p:spPr>
      </p:pic>
      <p:sp>
        <p:nvSpPr>
          <p:cNvPr id="5" name="Text 2"/>
          <p:cNvSpPr txBox="1"/>
          <p:nvPr/>
        </p:nvSpPr>
        <p:spPr>
          <a:xfrm>
            <a:off x="548640" y="3383280"/>
            <a:ext cx="2560320" cy="411480"/>
          </a:xfrm>
          <a:prstGeom prst="rect">
            <a:avLst/>
          </a:prstGeom>
          <a:noFill/>
          <a:ln/>
        </p:spPr>
        <p:txBody>
          <a:bodyPr wrap="square" lIns="0" tIns="0" rIns="0" bIns="0" rtlCol="0" anchor="t"/>
          <a:lstStyle/>
          <a:p>
            <a:pPr marL="0" indent="0">
              <a:buNone/>
            </a:pPr>
            <a:r>
              <a:rPr lang="en-US" sz="2000" b="1" dirty="0">
                <a:solidFill>
                  <a:schemeClr val="bg1"/>
                </a:solidFill>
              </a:rPr>
              <a:t>1 · Open</a:t>
            </a:r>
            <a:endParaRPr lang="en-US" sz="2000" dirty="0"/>
          </a:p>
        </p:txBody>
      </p:sp>
      <p:sp>
        <p:nvSpPr>
          <p:cNvPr id="6" name="Text 3"/>
          <p:cNvSpPr txBox="1"/>
          <p:nvPr/>
        </p:nvSpPr>
        <p:spPr>
          <a:xfrm>
            <a:off x="548640" y="3840480"/>
            <a:ext cx="2468880" cy="822960"/>
          </a:xfrm>
          <a:prstGeom prst="rect">
            <a:avLst/>
          </a:prstGeom>
          <a:noFill/>
          <a:ln/>
        </p:spPr>
        <p:txBody>
          <a:bodyPr wrap="square" lIns="0" tIns="0" rIns="0" bIns="0" rtlCol="0" anchor="t"/>
          <a:lstStyle/>
          <a:p>
            <a:pPr marL="0" indent="0">
              <a:buNone/>
            </a:pPr>
            <a:r>
              <a:rPr lang="en-US" sz="1500" dirty="0">
                <a:solidFill>
                  <a:srgbClr val="E6E6E6"/>
                </a:solidFill>
              </a:rPr>
              <a:t>The workflow in KNIME</a:t>
            </a:r>
            <a:endParaRPr lang="en-US" sz="1500" dirty="0"/>
          </a:p>
        </p:txBody>
      </p:sp>
      <p:sp>
        <p:nvSpPr>
          <p:cNvPr id="7" name="demo 2 circle"/>
          <p:cNvSpPr/>
          <p:nvPr/>
        </p:nvSpPr>
        <p:spPr>
          <a:xfrm>
            <a:off x="3355848" y="2194560"/>
            <a:ext cx="914400" cy="914400"/>
          </a:xfrm>
          <a:prstGeom prst="ellipse">
            <a:avLst/>
          </a:prstGeom>
          <a:solidFill>
            <a:schemeClr val="accent1"/>
          </a:solidFill>
          <a:ln/>
        </p:spPr>
      </p:sp>
      <p:pic>
        <p:nvPicPr>
          <p:cNvPr id="8" name="demo 2 icon" descr="preencoded.png"/>
          <p:cNvPicPr>
            <a:picLocks noChangeAspect="1"/>
          </p:cNvPicPr>
          <p:nvPr/>
        </p:nvPicPr>
        <p:blipFill>
          <a:blip r:embed="rId4"/>
          <a:stretch>
            <a:fillRect/>
          </a:stretch>
        </p:blipFill>
        <p:spPr>
          <a:xfrm>
            <a:off x="3593592" y="2432304"/>
            <a:ext cx="438912" cy="438912"/>
          </a:xfrm>
          <a:prstGeom prst="rect">
            <a:avLst/>
          </a:prstGeom>
        </p:spPr>
      </p:pic>
      <p:sp>
        <p:nvSpPr>
          <p:cNvPr id="9" name="Text 5"/>
          <p:cNvSpPr txBox="1"/>
          <p:nvPr/>
        </p:nvSpPr>
        <p:spPr>
          <a:xfrm>
            <a:off x="3355848" y="3383280"/>
            <a:ext cx="2560320" cy="411480"/>
          </a:xfrm>
          <a:prstGeom prst="rect">
            <a:avLst/>
          </a:prstGeom>
          <a:noFill/>
          <a:ln/>
        </p:spPr>
        <p:txBody>
          <a:bodyPr wrap="square" lIns="0" tIns="0" rIns="0" bIns="0" rtlCol="0" anchor="t"/>
          <a:lstStyle/>
          <a:p>
            <a:pPr marL="0" indent="0">
              <a:buNone/>
            </a:pPr>
            <a:r>
              <a:rPr lang="en-US" sz="2000" b="1" dirty="0">
                <a:solidFill>
                  <a:schemeClr val="bg1"/>
                </a:solidFill>
              </a:rPr>
              <a:t>2 · Run</a:t>
            </a:r>
            <a:endParaRPr lang="en-US" sz="2000" dirty="0"/>
          </a:p>
        </p:txBody>
      </p:sp>
      <p:sp>
        <p:nvSpPr>
          <p:cNvPr id="10" name="Text 6"/>
          <p:cNvSpPr txBox="1"/>
          <p:nvPr/>
        </p:nvSpPr>
        <p:spPr>
          <a:xfrm>
            <a:off x="3355848" y="3840480"/>
            <a:ext cx="2468880" cy="822960"/>
          </a:xfrm>
          <a:prstGeom prst="rect">
            <a:avLst/>
          </a:prstGeom>
          <a:noFill/>
          <a:ln/>
        </p:spPr>
        <p:txBody>
          <a:bodyPr wrap="square" lIns="0" tIns="0" rIns="0" bIns="0" rtlCol="0" anchor="t"/>
          <a:lstStyle/>
          <a:p>
            <a:pPr marL="0" indent="0">
              <a:buNone/>
            </a:pPr>
            <a:r>
              <a:rPr lang="en-US" sz="1500" dirty="0">
                <a:solidFill>
                  <a:srgbClr val="E6E6E6"/>
                </a:solidFill>
              </a:rPr>
              <a:t>Execute all, watch the nodes turn green</a:t>
            </a:r>
            <a:endParaRPr lang="en-US" sz="1500" dirty="0"/>
          </a:p>
        </p:txBody>
      </p:sp>
      <p:sp>
        <p:nvSpPr>
          <p:cNvPr id="11" name="demo 3 circle"/>
          <p:cNvSpPr/>
          <p:nvPr/>
        </p:nvSpPr>
        <p:spPr>
          <a:xfrm>
            <a:off x="6163056" y="2194560"/>
            <a:ext cx="914400" cy="914400"/>
          </a:xfrm>
          <a:prstGeom prst="ellipse">
            <a:avLst/>
          </a:prstGeom>
          <a:solidFill>
            <a:schemeClr val="accent1"/>
          </a:solidFill>
          <a:ln/>
        </p:spPr>
      </p:sp>
      <p:pic>
        <p:nvPicPr>
          <p:cNvPr id="12" name="demo 3 icon" descr="preencoded.png"/>
          <p:cNvPicPr>
            <a:picLocks noChangeAspect="1"/>
          </p:cNvPicPr>
          <p:nvPr/>
        </p:nvPicPr>
        <p:blipFill>
          <a:blip r:embed="rId5"/>
          <a:stretch>
            <a:fillRect/>
          </a:stretch>
        </p:blipFill>
        <p:spPr>
          <a:xfrm>
            <a:off x="6400800" y="2432304"/>
            <a:ext cx="438912" cy="438912"/>
          </a:xfrm>
          <a:prstGeom prst="rect">
            <a:avLst/>
          </a:prstGeom>
        </p:spPr>
      </p:pic>
      <p:sp>
        <p:nvSpPr>
          <p:cNvPr id="13" name="Text 8"/>
          <p:cNvSpPr txBox="1"/>
          <p:nvPr/>
        </p:nvSpPr>
        <p:spPr>
          <a:xfrm>
            <a:off x="6163056" y="3383280"/>
            <a:ext cx="2560320" cy="411480"/>
          </a:xfrm>
          <a:prstGeom prst="rect">
            <a:avLst/>
          </a:prstGeom>
          <a:noFill/>
          <a:ln/>
        </p:spPr>
        <p:txBody>
          <a:bodyPr wrap="square" lIns="0" tIns="0" rIns="0" bIns="0" rtlCol="0" anchor="t"/>
          <a:lstStyle/>
          <a:p>
            <a:pPr marL="0" indent="0">
              <a:buNone/>
            </a:pPr>
            <a:r>
              <a:rPr lang="en-US" sz="2000" b="1" dirty="0">
                <a:solidFill>
                  <a:schemeClr val="bg1"/>
                </a:solidFill>
              </a:rPr>
              <a:t>3 · Inspect</a:t>
            </a:r>
            <a:endParaRPr lang="en-US" sz="2000" dirty="0"/>
          </a:p>
        </p:txBody>
      </p:sp>
      <p:sp>
        <p:nvSpPr>
          <p:cNvPr id="14" name="Text 9"/>
          <p:cNvSpPr txBox="1"/>
          <p:nvPr/>
        </p:nvSpPr>
        <p:spPr>
          <a:xfrm>
            <a:off x="6163056" y="3840480"/>
            <a:ext cx="2468880" cy="822960"/>
          </a:xfrm>
          <a:prstGeom prst="rect">
            <a:avLst/>
          </a:prstGeom>
          <a:noFill/>
          <a:ln/>
        </p:spPr>
        <p:txBody>
          <a:bodyPr wrap="square" lIns="0" tIns="0" rIns="0" bIns="0" rtlCol="0" anchor="t"/>
          <a:lstStyle/>
          <a:p>
            <a:pPr marL="0" indent="0">
              <a:buNone/>
            </a:pPr>
            <a:r>
              <a:rPr lang="en-US" sz="1500" dirty="0">
                <a:solidFill>
                  <a:srgbClr val="E6E6E6"/>
                </a:solidFill>
              </a:rPr>
              <a:t>Row counts after each clean-up step</a:t>
            </a:r>
            <a:endParaRPr lang="en-US" sz="1500" dirty="0"/>
          </a:p>
        </p:txBody>
      </p:sp>
      <p:sp>
        <p:nvSpPr>
          <p:cNvPr id="15" name="demo 4 circle"/>
          <p:cNvSpPr/>
          <p:nvPr/>
        </p:nvSpPr>
        <p:spPr>
          <a:xfrm>
            <a:off x="8970264" y="2194560"/>
            <a:ext cx="914400" cy="914400"/>
          </a:xfrm>
          <a:prstGeom prst="ellipse">
            <a:avLst/>
          </a:prstGeom>
          <a:solidFill>
            <a:schemeClr val="accent1"/>
          </a:solidFill>
          <a:ln/>
        </p:spPr>
      </p:sp>
      <p:pic>
        <p:nvPicPr>
          <p:cNvPr id="16" name="demo 4 icon" descr="preencoded.png"/>
          <p:cNvPicPr>
            <a:picLocks noChangeAspect="1"/>
          </p:cNvPicPr>
          <p:nvPr/>
        </p:nvPicPr>
        <p:blipFill>
          <a:blip r:embed="rId6"/>
          <a:stretch>
            <a:fillRect/>
          </a:stretch>
        </p:blipFill>
        <p:spPr>
          <a:xfrm>
            <a:off x="9208008" y="2432304"/>
            <a:ext cx="438912" cy="438912"/>
          </a:xfrm>
          <a:prstGeom prst="rect">
            <a:avLst/>
          </a:prstGeom>
        </p:spPr>
      </p:pic>
      <p:sp>
        <p:nvSpPr>
          <p:cNvPr id="17" name="Text 11"/>
          <p:cNvSpPr txBox="1"/>
          <p:nvPr/>
        </p:nvSpPr>
        <p:spPr>
          <a:xfrm>
            <a:off x="8970264" y="3383280"/>
            <a:ext cx="2560320" cy="411480"/>
          </a:xfrm>
          <a:prstGeom prst="rect">
            <a:avLst/>
          </a:prstGeom>
          <a:noFill/>
          <a:ln/>
        </p:spPr>
        <p:txBody>
          <a:bodyPr wrap="square" lIns="0" tIns="0" rIns="0" bIns="0" rtlCol="0" anchor="t"/>
          <a:lstStyle/>
          <a:p>
            <a:pPr marL="0" indent="0">
              <a:buNone/>
            </a:pPr>
            <a:r>
              <a:rPr lang="en-US" sz="2000" b="1" dirty="0">
                <a:solidFill>
                  <a:schemeClr val="bg1"/>
                </a:solidFill>
              </a:rPr>
              <a:t>4 · Change</a:t>
            </a:r>
            <a:endParaRPr lang="en-US" sz="2000" dirty="0"/>
          </a:p>
        </p:txBody>
      </p:sp>
      <p:sp>
        <p:nvSpPr>
          <p:cNvPr id="18" name="Text 12"/>
          <p:cNvSpPr txBox="1"/>
          <p:nvPr/>
        </p:nvSpPr>
        <p:spPr>
          <a:xfrm>
            <a:off x="8970264" y="3840480"/>
            <a:ext cx="2468880" cy="822960"/>
          </a:xfrm>
          <a:prstGeom prst="rect">
            <a:avLst/>
          </a:prstGeom>
          <a:noFill/>
          <a:ln/>
        </p:spPr>
        <p:txBody>
          <a:bodyPr wrap="square" lIns="0" tIns="0" rIns="0" bIns="0" rtlCol="0" anchor="t"/>
          <a:lstStyle/>
          <a:p>
            <a:pPr marL="0" indent="0">
              <a:buNone/>
            </a:pPr>
            <a:r>
              <a:rPr lang="en-US" sz="1500" dirty="0">
                <a:solidFill>
                  <a:srgbClr val="E6E6E6"/>
                </a:solidFill>
              </a:rPr>
              <a:t>Swap in the 1M file and re-run</a:t>
            </a:r>
            <a:endParaRPr lang="en-US" sz="15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FBFBF"/>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1463040"/>
            <a:ext cx="3657600" cy="1463040"/>
          </a:xfrm>
          <a:prstGeom prst="rect">
            <a:avLst/>
          </a:prstGeom>
          <a:noFill/>
          <a:ln/>
        </p:spPr>
        <p:txBody>
          <a:bodyPr wrap="square" lIns="0" tIns="0" rIns="0" bIns="0" rtlCol="0" anchor="b"/>
          <a:lstStyle/>
          <a:p>
            <a:pPr marL="0" indent="0" algn="l">
              <a:buNone/>
            </a:pPr>
            <a:r>
              <a:rPr lang="en-US" sz="9600" b="1" dirty="0">
                <a:solidFill>
                  <a:schemeClr val="bg1"/>
                </a:solidFill>
                <a:latin typeface="Georgia" pitchFamily="34" charset="0"/>
                <a:ea typeface="Georgia" pitchFamily="34" charset="-122"/>
                <a:cs typeface="Georgia" pitchFamily="34" charset="-120"/>
              </a:rPr>
              <a:t>04</a:t>
            </a:r>
            <a:endParaRPr lang="en-US" sz="9600" dirty="0"/>
          </a:p>
        </p:txBody>
      </p:sp>
      <p:sp>
        <p:nvSpPr>
          <p:cNvPr id="3" name="Text 0"/>
          <p:cNvSpPr>
            <a:spLocks noGrp="1"/>
          </p:cNvSpPr>
          <p:nvPr>
            <p:ph type="title" idx="101" hasCustomPrompt="1"/>
          </p:nvPr>
        </p:nvSpPr>
        <p:spPr>
          <a:xfrm>
            <a:off x="548640" y="3108960"/>
            <a:ext cx="10058400" cy="1280160"/>
          </a:xfrm>
          <a:prstGeom prst="rect">
            <a:avLst/>
          </a:prstGeom>
          <a:noFill/>
          <a:ln/>
        </p:spPr>
        <p:txBody>
          <a:bodyPr wrap="square" lIns="0" tIns="0" rIns="0" bIns="0" rtlCol="0" anchor="t"/>
          <a:lstStyle/>
          <a:p>
            <a:pPr marL="0" indent="0" algn="l">
              <a:buNone/>
            </a:pPr>
            <a:r>
              <a:rPr lang="en-US" sz="4000" b="1" dirty="0">
                <a:solidFill>
                  <a:schemeClr val="bg1"/>
                </a:solidFill>
                <a:latin typeface="Georgia" pitchFamily="34" charset="0"/>
                <a:ea typeface="Georgia" pitchFamily="34" charset="-122"/>
                <a:cs typeface="Georgia" pitchFamily="34" charset="-120"/>
              </a:rPr>
              <a:t>How to set up KNIME on your machine</a:t>
            </a:r>
            <a:endParaRPr lang="en-US" sz="4000" dirty="0"/>
          </a:p>
        </p:txBody>
      </p:sp>
      <p:sp>
        <p:nvSpPr>
          <p:cNvPr id="25" name="Slide Number Placeholder 0"/>
          <p:cNvSpPr>
            <a:spLocks noGrp="1"/>
          </p:cNvSpPr>
          <p:nvPr>
            <p:ph type="sldNum" sz="quarter" idx="4294967295"/>
          </p:nvPr>
        </p:nvSpPr>
        <p:spPr>
          <a:xfrm>
            <a:off x="11155680" y="6263640"/>
            <a:ext cx="548640" cy="320040"/>
          </a:xfrm>
          <a:prstGeom prst="rect">
            <a:avLst/>
          </a:prstGeom>
          <a:extLst>
            <a:ext uri="{C572A759-6A51-4108-AA02-DFA0A04FC94B}">
              <ma14:wrappingTextBoxFlag xmlns:ma14="http://schemas.microsoft.com/office/mac/drawingml/2011/main" xmlns="" val="0"/>
            </a:ext>
          </a:extLst>
        </p:spPr>
        <p:txBody>
          <a:bodyPr/>
          <a:lstStyle>
            <a:lvl1pPr>
              <a:defRPr sz="1000">
                <a:solidFill>
                  <a:srgbClr val="FFFFFF"/>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9144000" cy="320040"/>
          </a:xfrm>
          <a:prstGeom prst="rect">
            <a:avLst/>
          </a:prstGeom>
          <a:noFill/>
          <a:ln/>
        </p:spPr>
        <p:txBody>
          <a:bodyPr wrap="square" lIns="0" tIns="0" rIns="0" bIns="0" rtlCol="0"/>
          <a:lstStyle/>
          <a:p>
            <a:pPr marL="0" indent="0" algn="l">
              <a:buNone/>
            </a:pPr>
            <a:r>
              <a:rPr lang="en-US" sz="1200" b="1" kern="0" spc="200" dirty="0">
                <a:solidFill>
                  <a:schemeClr val="accent2"/>
                </a:solidFill>
              </a:rPr>
              <a:t>04 · SETUP</a:t>
            </a:r>
            <a:endParaRPr lang="en-US" sz="1200" dirty="0"/>
          </a:p>
        </p:txBody>
      </p:sp>
      <p:sp>
        <p:nvSpPr>
          <p:cNvPr id="3" name="Text 0"/>
          <p:cNvSpPr>
            <a:spLocks noGrp="1"/>
          </p:cNvSpPr>
          <p:nvPr>
            <p:ph type="title" idx="101" hasCustomPrompt="1"/>
          </p:nvPr>
        </p:nvSpPr>
        <p:spPr>
          <a:xfrm>
            <a:off x="548640" y="731520"/>
            <a:ext cx="11064240" cy="822960"/>
          </a:xfrm>
          <a:prstGeom prst="rect">
            <a:avLst/>
          </a:prstGeom>
          <a:noFill/>
          <a:ln/>
        </p:spPr>
        <p:txBody>
          <a:bodyPr wrap="square" lIns="0" tIns="0" rIns="0" bIns="0" rtlCol="0" anchor="t"/>
          <a:lstStyle/>
          <a:p>
            <a:pPr marL="0" indent="0" algn="l">
              <a:buNone/>
            </a:pPr>
            <a:r>
              <a:rPr lang="en-US" sz="3000" b="1" dirty="0">
                <a:solidFill>
                  <a:schemeClr val="tx1"/>
                </a:solidFill>
                <a:latin typeface="Georgia" pitchFamily="34" charset="0"/>
                <a:ea typeface="Georgia" pitchFamily="34" charset="-122"/>
                <a:cs typeface="Georgia" pitchFamily="34" charset="-120"/>
              </a:rPr>
              <a:t>Six steps to get KNIME running</a:t>
            </a:r>
            <a:endParaRPr lang="en-US" sz="3000" dirty="0"/>
          </a:p>
        </p:txBody>
      </p:sp>
      <p:sp>
        <p:nvSpPr>
          <p:cNvPr id="4" name="setup step 1"/>
          <p:cNvSpPr/>
          <p:nvPr/>
        </p:nvSpPr>
        <p:spPr>
          <a:xfrm>
            <a:off x="548640" y="1783080"/>
            <a:ext cx="3520440" cy="1828800"/>
          </a:xfrm>
          <a:prstGeom prst="rect">
            <a:avLst/>
          </a:prstGeom>
          <a:solidFill>
            <a:schemeClr val="bg2"/>
          </a:solidFill>
          <a:ln/>
        </p:spPr>
      </p:sp>
      <p:sp>
        <p:nvSpPr>
          <p:cNvPr id="5" name="step number 1"/>
          <p:cNvSpPr/>
          <p:nvPr/>
        </p:nvSpPr>
        <p:spPr>
          <a:xfrm>
            <a:off x="822960" y="2057400"/>
            <a:ext cx="548640" cy="548640"/>
          </a:xfrm>
          <a:prstGeom prst="ellipse">
            <a:avLst/>
          </a:prstGeom>
          <a:solidFill>
            <a:schemeClr val="accent1"/>
          </a:solidFill>
          <a:ln/>
        </p:spPr>
      </p:sp>
      <p:sp>
        <p:nvSpPr>
          <p:cNvPr id="6" name="Text 4"/>
          <p:cNvSpPr txBox="1"/>
          <p:nvPr/>
        </p:nvSpPr>
        <p:spPr>
          <a:xfrm>
            <a:off x="822960" y="20574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7" name="Text 5"/>
          <p:cNvSpPr txBox="1"/>
          <p:nvPr/>
        </p:nvSpPr>
        <p:spPr>
          <a:xfrm>
            <a:off x="1554480" y="2130552"/>
            <a:ext cx="2286000" cy="411480"/>
          </a:xfrm>
          <a:prstGeom prst="rect">
            <a:avLst/>
          </a:prstGeom>
          <a:noFill/>
          <a:ln/>
        </p:spPr>
        <p:txBody>
          <a:bodyPr wrap="square" lIns="0" tIns="0" rIns="0" bIns="0" rtlCol="0" anchor="ctr"/>
          <a:lstStyle/>
          <a:p>
            <a:pPr marL="0" indent="0">
              <a:buNone/>
            </a:pPr>
            <a:r>
              <a:rPr lang="en-US" sz="1700" b="1" dirty="0">
                <a:solidFill>
                  <a:schemeClr val="tx1"/>
                </a:solidFill>
              </a:rPr>
              <a:t>Approval</a:t>
            </a:r>
            <a:endParaRPr lang="en-US" sz="1700" dirty="0"/>
          </a:p>
        </p:txBody>
      </p:sp>
      <p:sp>
        <p:nvSpPr>
          <p:cNvPr id="8" name="Text 6"/>
          <p:cNvSpPr txBox="1"/>
          <p:nvPr/>
        </p:nvSpPr>
        <p:spPr>
          <a:xfrm>
            <a:off x="822960" y="2743200"/>
            <a:ext cx="3017520" cy="777240"/>
          </a:xfrm>
          <a:prstGeom prst="rect">
            <a:avLst/>
          </a:prstGeom>
          <a:noFill/>
          <a:ln/>
        </p:spPr>
        <p:txBody>
          <a:bodyPr wrap="square" lIns="0" tIns="0" rIns="0" bIns="0" rtlCol="0" anchor="t"/>
          <a:lstStyle/>
          <a:p>
            <a:pPr marL="0" indent="0">
              <a:buNone/>
            </a:pPr>
            <a:r>
              <a:rPr lang="en-US" sz="1400" dirty="0">
                <a:solidFill>
                  <a:schemeClr val="tx2"/>
                </a:solidFill>
              </a:rPr>
              <a:t>Raise an IT software request for KNIME Analytics Platform</a:t>
            </a:r>
            <a:endParaRPr lang="en-US" sz="1400" dirty="0"/>
          </a:p>
        </p:txBody>
      </p:sp>
      <p:sp>
        <p:nvSpPr>
          <p:cNvPr id="9" name="setup step 2"/>
          <p:cNvSpPr/>
          <p:nvPr/>
        </p:nvSpPr>
        <p:spPr>
          <a:xfrm>
            <a:off x="4297680" y="1783080"/>
            <a:ext cx="3520440" cy="1828800"/>
          </a:xfrm>
          <a:prstGeom prst="rect">
            <a:avLst/>
          </a:prstGeom>
          <a:solidFill>
            <a:schemeClr val="bg2"/>
          </a:solidFill>
          <a:ln/>
        </p:spPr>
      </p:sp>
      <p:sp>
        <p:nvSpPr>
          <p:cNvPr id="10" name="step number 2"/>
          <p:cNvSpPr/>
          <p:nvPr/>
        </p:nvSpPr>
        <p:spPr>
          <a:xfrm>
            <a:off x="4572000" y="2057400"/>
            <a:ext cx="548640" cy="548640"/>
          </a:xfrm>
          <a:prstGeom prst="ellipse">
            <a:avLst/>
          </a:prstGeom>
          <a:solidFill>
            <a:schemeClr val="accent1"/>
          </a:solidFill>
          <a:ln/>
        </p:spPr>
      </p:sp>
      <p:sp>
        <p:nvSpPr>
          <p:cNvPr id="11" name="Text 9"/>
          <p:cNvSpPr txBox="1"/>
          <p:nvPr/>
        </p:nvSpPr>
        <p:spPr>
          <a:xfrm>
            <a:off x="4572000" y="20574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12" name="Text 10"/>
          <p:cNvSpPr txBox="1"/>
          <p:nvPr/>
        </p:nvSpPr>
        <p:spPr>
          <a:xfrm>
            <a:off x="5303520" y="2130552"/>
            <a:ext cx="2286000" cy="411480"/>
          </a:xfrm>
          <a:prstGeom prst="rect">
            <a:avLst/>
          </a:prstGeom>
          <a:noFill/>
          <a:ln/>
        </p:spPr>
        <p:txBody>
          <a:bodyPr wrap="square" lIns="0" tIns="0" rIns="0" bIns="0" rtlCol="0" anchor="ctr"/>
          <a:lstStyle/>
          <a:p>
            <a:pPr marL="0" indent="0">
              <a:buNone/>
            </a:pPr>
            <a:r>
              <a:rPr lang="en-US" sz="1700" b="1" dirty="0">
                <a:solidFill>
                  <a:schemeClr val="tx1"/>
                </a:solidFill>
              </a:rPr>
              <a:t>Download</a:t>
            </a:r>
            <a:endParaRPr lang="en-US" sz="1700" dirty="0"/>
          </a:p>
        </p:txBody>
      </p:sp>
      <p:sp>
        <p:nvSpPr>
          <p:cNvPr id="13" name="Text 11"/>
          <p:cNvSpPr txBox="1"/>
          <p:nvPr/>
        </p:nvSpPr>
        <p:spPr>
          <a:xfrm>
            <a:off x="4572000" y="2743200"/>
            <a:ext cx="3017520" cy="777240"/>
          </a:xfrm>
          <a:prstGeom prst="rect">
            <a:avLst/>
          </a:prstGeom>
          <a:noFill/>
          <a:ln/>
        </p:spPr>
        <p:txBody>
          <a:bodyPr wrap="square" lIns="0" tIns="0" rIns="0" bIns="0" rtlCol="0" anchor="t"/>
          <a:lstStyle/>
          <a:p>
            <a:pPr marL="0" indent="0">
              <a:buNone/>
            </a:pPr>
            <a:r>
              <a:rPr lang="en-US" sz="1400" dirty="0">
                <a:solidFill>
                  <a:schemeClr val="tx2"/>
                </a:solidFill>
              </a:rPr>
              <a:t>knime.com/downloads: Windows installer, or the zip if you lack admin rights</a:t>
            </a:r>
            <a:endParaRPr lang="en-US" sz="1400" dirty="0"/>
          </a:p>
        </p:txBody>
      </p:sp>
      <p:sp>
        <p:nvSpPr>
          <p:cNvPr id="14" name="setup step 3"/>
          <p:cNvSpPr/>
          <p:nvPr/>
        </p:nvSpPr>
        <p:spPr>
          <a:xfrm>
            <a:off x="8046720" y="1783080"/>
            <a:ext cx="3520440" cy="1828800"/>
          </a:xfrm>
          <a:prstGeom prst="rect">
            <a:avLst/>
          </a:prstGeom>
          <a:solidFill>
            <a:schemeClr val="bg2"/>
          </a:solidFill>
          <a:ln/>
        </p:spPr>
      </p:sp>
      <p:sp>
        <p:nvSpPr>
          <p:cNvPr id="15" name="step number 3"/>
          <p:cNvSpPr/>
          <p:nvPr/>
        </p:nvSpPr>
        <p:spPr>
          <a:xfrm>
            <a:off x="8321040" y="2057400"/>
            <a:ext cx="548640" cy="548640"/>
          </a:xfrm>
          <a:prstGeom prst="ellipse">
            <a:avLst/>
          </a:prstGeom>
          <a:solidFill>
            <a:schemeClr val="accent1"/>
          </a:solidFill>
          <a:ln/>
        </p:spPr>
      </p:sp>
      <p:sp>
        <p:nvSpPr>
          <p:cNvPr id="16" name="Text 14"/>
          <p:cNvSpPr txBox="1"/>
          <p:nvPr/>
        </p:nvSpPr>
        <p:spPr>
          <a:xfrm>
            <a:off x="8321040" y="205740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7" name="Text 15"/>
          <p:cNvSpPr txBox="1"/>
          <p:nvPr/>
        </p:nvSpPr>
        <p:spPr>
          <a:xfrm>
            <a:off x="9052560" y="2130552"/>
            <a:ext cx="2286000" cy="411480"/>
          </a:xfrm>
          <a:prstGeom prst="rect">
            <a:avLst/>
          </a:prstGeom>
          <a:noFill/>
          <a:ln/>
        </p:spPr>
        <p:txBody>
          <a:bodyPr wrap="square" lIns="0" tIns="0" rIns="0" bIns="0" rtlCol="0" anchor="ctr"/>
          <a:lstStyle/>
          <a:p>
            <a:pPr marL="0" indent="0">
              <a:buNone/>
            </a:pPr>
            <a:r>
              <a:rPr lang="en-US" sz="1700" b="1" dirty="0">
                <a:solidFill>
                  <a:schemeClr val="tx1"/>
                </a:solidFill>
              </a:rPr>
              <a:t>Install</a:t>
            </a:r>
            <a:endParaRPr lang="en-US" sz="1700" dirty="0"/>
          </a:p>
        </p:txBody>
      </p:sp>
      <p:sp>
        <p:nvSpPr>
          <p:cNvPr id="18" name="Text 16"/>
          <p:cNvSpPr txBox="1"/>
          <p:nvPr/>
        </p:nvSpPr>
        <p:spPr>
          <a:xfrm>
            <a:off x="8321040" y="2743200"/>
            <a:ext cx="3017520" cy="777240"/>
          </a:xfrm>
          <a:prstGeom prst="rect">
            <a:avLst/>
          </a:prstGeom>
          <a:noFill/>
          <a:ln/>
        </p:spPr>
        <p:txBody>
          <a:bodyPr wrap="square" lIns="0" tIns="0" rIns="0" bIns="0" rtlCol="0" anchor="t"/>
          <a:lstStyle/>
          <a:p>
            <a:pPr marL="0" indent="0">
              <a:buNone/>
            </a:pPr>
            <a:r>
              <a:rPr lang="en-US" sz="1400" dirty="0">
                <a:solidFill>
                  <a:schemeClr val="tx2"/>
                </a:solidFill>
              </a:rPr>
              <a:t>Run it, then choose a workspace folder for your workflows</a:t>
            </a:r>
            <a:endParaRPr lang="en-US" sz="1400" dirty="0"/>
          </a:p>
        </p:txBody>
      </p:sp>
      <p:sp>
        <p:nvSpPr>
          <p:cNvPr id="19" name="setup step 4"/>
          <p:cNvSpPr/>
          <p:nvPr/>
        </p:nvSpPr>
        <p:spPr>
          <a:xfrm>
            <a:off x="548640" y="3794760"/>
            <a:ext cx="3520440" cy="1828800"/>
          </a:xfrm>
          <a:prstGeom prst="rect">
            <a:avLst/>
          </a:prstGeom>
          <a:solidFill>
            <a:schemeClr val="bg2"/>
          </a:solidFill>
          <a:ln/>
        </p:spPr>
      </p:sp>
      <p:sp>
        <p:nvSpPr>
          <p:cNvPr id="20" name="step number 4"/>
          <p:cNvSpPr/>
          <p:nvPr/>
        </p:nvSpPr>
        <p:spPr>
          <a:xfrm>
            <a:off x="822960" y="4069080"/>
            <a:ext cx="548640" cy="548640"/>
          </a:xfrm>
          <a:prstGeom prst="ellipse">
            <a:avLst/>
          </a:prstGeom>
          <a:solidFill>
            <a:schemeClr val="accent1"/>
          </a:solidFill>
          <a:ln/>
        </p:spPr>
      </p:sp>
      <p:sp>
        <p:nvSpPr>
          <p:cNvPr id="21" name="Text 19"/>
          <p:cNvSpPr txBox="1"/>
          <p:nvPr/>
        </p:nvSpPr>
        <p:spPr>
          <a:xfrm>
            <a:off x="822960" y="406908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22" name="Text 20"/>
          <p:cNvSpPr txBox="1"/>
          <p:nvPr/>
        </p:nvSpPr>
        <p:spPr>
          <a:xfrm>
            <a:off x="1554480" y="4142232"/>
            <a:ext cx="2286000" cy="411480"/>
          </a:xfrm>
          <a:prstGeom prst="rect">
            <a:avLst/>
          </a:prstGeom>
          <a:noFill/>
          <a:ln/>
        </p:spPr>
        <p:txBody>
          <a:bodyPr wrap="square" lIns="0" tIns="0" rIns="0" bIns="0" rtlCol="0" anchor="ctr"/>
          <a:lstStyle/>
          <a:p>
            <a:pPr marL="0" indent="0">
              <a:buNone/>
            </a:pPr>
            <a:r>
              <a:rPr lang="en-US" sz="1700" b="1" dirty="0">
                <a:solidFill>
                  <a:schemeClr val="tx1"/>
                </a:solidFill>
              </a:rPr>
              <a:t>Memory</a:t>
            </a:r>
            <a:endParaRPr lang="en-US" sz="1700" dirty="0"/>
          </a:p>
        </p:txBody>
      </p:sp>
      <p:sp>
        <p:nvSpPr>
          <p:cNvPr id="23" name="Text 21"/>
          <p:cNvSpPr txBox="1"/>
          <p:nvPr/>
        </p:nvSpPr>
        <p:spPr>
          <a:xfrm>
            <a:off x="822960" y="4754880"/>
            <a:ext cx="3017520" cy="777240"/>
          </a:xfrm>
          <a:prstGeom prst="rect">
            <a:avLst/>
          </a:prstGeom>
          <a:noFill/>
          <a:ln/>
        </p:spPr>
        <p:txBody>
          <a:bodyPr wrap="square" lIns="0" tIns="0" rIns="0" bIns="0" rtlCol="0" anchor="t"/>
          <a:lstStyle/>
          <a:p>
            <a:pPr marL="0" indent="0">
              <a:buNone/>
            </a:pPr>
            <a:r>
              <a:rPr lang="en-US" sz="1400" dirty="0">
                <a:solidFill>
                  <a:schemeClr val="tx2"/>
                </a:solidFill>
              </a:rPr>
              <a:t>In knime.ini set -Xmx to half your RAM, e.g. -Xmx8g on 16 GB</a:t>
            </a:r>
            <a:endParaRPr lang="en-US" sz="1400" dirty="0"/>
          </a:p>
        </p:txBody>
      </p:sp>
      <p:sp>
        <p:nvSpPr>
          <p:cNvPr id="24" name="setup step 5"/>
          <p:cNvSpPr/>
          <p:nvPr/>
        </p:nvSpPr>
        <p:spPr>
          <a:xfrm>
            <a:off x="4297680" y="3794760"/>
            <a:ext cx="3520440" cy="1828800"/>
          </a:xfrm>
          <a:prstGeom prst="rect">
            <a:avLst/>
          </a:prstGeom>
          <a:solidFill>
            <a:schemeClr val="bg2"/>
          </a:solidFill>
          <a:ln/>
        </p:spPr>
      </p:sp>
      <p:sp>
        <p:nvSpPr>
          <p:cNvPr id="25" name="step number 5"/>
          <p:cNvSpPr/>
          <p:nvPr/>
        </p:nvSpPr>
        <p:spPr>
          <a:xfrm>
            <a:off x="4572000" y="4069080"/>
            <a:ext cx="548640" cy="548640"/>
          </a:xfrm>
          <a:prstGeom prst="ellipse">
            <a:avLst/>
          </a:prstGeom>
          <a:solidFill>
            <a:schemeClr val="accent1"/>
          </a:solidFill>
          <a:ln/>
        </p:spPr>
      </p:sp>
      <p:sp>
        <p:nvSpPr>
          <p:cNvPr id="26" name="Text 24"/>
          <p:cNvSpPr txBox="1"/>
          <p:nvPr/>
        </p:nvSpPr>
        <p:spPr>
          <a:xfrm>
            <a:off x="4572000" y="406908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27" name="Text 25"/>
          <p:cNvSpPr txBox="1"/>
          <p:nvPr/>
        </p:nvSpPr>
        <p:spPr>
          <a:xfrm>
            <a:off x="5303520" y="4142232"/>
            <a:ext cx="2286000" cy="411480"/>
          </a:xfrm>
          <a:prstGeom prst="rect">
            <a:avLst/>
          </a:prstGeom>
          <a:noFill/>
          <a:ln/>
        </p:spPr>
        <p:txBody>
          <a:bodyPr wrap="square" lIns="0" tIns="0" rIns="0" bIns="0" rtlCol="0" anchor="ctr"/>
          <a:lstStyle/>
          <a:p>
            <a:pPr marL="0" indent="0">
              <a:buNone/>
            </a:pPr>
            <a:r>
              <a:rPr lang="en-US" sz="1700" b="1" dirty="0">
                <a:solidFill>
                  <a:schemeClr val="tx1"/>
                </a:solidFill>
              </a:rPr>
              <a:t>Extensions</a:t>
            </a:r>
            <a:endParaRPr lang="en-US" sz="1700" dirty="0"/>
          </a:p>
        </p:txBody>
      </p:sp>
      <p:sp>
        <p:nvSpPr>
          <p:cNvPr id="28" name="Text 26"/>
          <p:cNvSpPr txBox="1"/>
          <p:nvPr/>
        </p:nvSpPr>
        <p:spPr>
          <a:xfrm>
            <a:off x="4572000" y="4754880"/>
            <a:ext cx="3017520" cy="777240"/>
          </a:xfrm>
          <a:prstGeom prst="rect">
            <a:avLst/>
          </a:prstGeom>
          <a:noFill/>
          <a:ln/>
        </p:spPr>
        <p:txBody>
          <a:bodyPr wrap="square" lIns="0" tIns="0" rIns="0" bIns="0" rtlCol="0" anchor="t"/>
          <a:lstStyle/>
          <a:p>
            <a:pPr marL="0" indent="0">
              <a:buNone/>
            </a:pPr>
            <a:r>
              <a:rPr lang="en-US" sz="1400" dirty="0">
                <a:solidFill>
                  <a:schemeClr val="tx2"/>
                </a:solidFill>
              </a:rPr>
              <a:t>Menu › Install Extensions for extras such as Python or databases</a:t>
            </a:r>
            <a:endParaRPr lang="en-US" sz="1400" dirty="0"/>
          </a:p>
        </p:txBody>
      </p:sp>
      <p:sp>
        <p:nvSpPr>
          <p:cNvPr id="29" name="setup step 6"/>
          <p:cNvSpPr/>
          <p:nvPr/>
        </p:nvSpPr>
        <p:spPr>
          <a:xfrm>
            <a:off x="8046720" y="3794760"/>
            <a:ext cx="3520440" cy="1828800"/>
          </a:xfrm>
          <a:prstGeom prst="rect">
            <a:avLst/>
          </a:prstGeom>
          <a:solidFill>
            <a:schemeClr val="bg2"/>
          </a:solidFill>
          <a:ln/>
        </p:spPr>
      </p:sp>
      <p:sp>
        <p:nvSpPr>
          <p:cNvPr id="30" name="step number 6"/>
          <p:cNvSpPr/>
          <p:nvPr/>
        </p:nvSpPr>
        <p:spPr>
          <a:xfrm>
            <a:off x="8321040" y="4069080"/>
            <a:ext cx="548640" cy="548640"/>
          </a:xfrm>
          <a:prstGeom prst="ellipse">
            <a:avLst/>
          </a:prstGeom>
          <a:solidFill>
            <a:schemeClr val="accent1"/>
          </a:solidFill>
          <a:ln/>
        </p:spPr>
      </p:sp>
      <p:sp>
        <p:nvSpPr>
          <p:cNvPr id="31" name="Text 29"/>
          <p:cNvSpPr txBox="1"/>
          <p:nvPr/>
        </p:nvSpPr>
        <p:spPr>
          <a:xfrm>
            <a:off x="8321040" y="4069080"/>
            <a:ext cx="548640" cy="548640"/>
          </a:xfrm>
          <a:prstGeom prst="rect">
            <a:avLst/>
          </a:prstGeom>
          <a:no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32" name="Text 30"/>
          <p:cNvSpPr txBox="1"/>
          <p:nvPr/>
        </p:nvSpPr>
        <p:spPr>
          <a:xfrm>
            <a:off x="9052560" y="4142232"/>
            <a:ext cx="2286000" cy="411480"/>
          </a:xfrm>
          <a:prstGeom prst="rect">
            <a:avLst/>
          </a:prstGeom>
          <a:noFill/>
          <a:ln/>
        </p:spPr>
        <p:txBody>
          <a:bodyPr wrap="square" lIns="0" tIns="0" rIns="0" bIns="0" rtlCol="0" anchor="ctr"/>
          <a:lstStyle/>
          <a:p>
            <a:pPr marL="0" indent="0">
              <a:buNone/>
            </a:pPr>
            <a:r>
              <a:rPr lang="en-US" sz="1700" b="1" dirty="0">
                <a:solidFill>
                  <a:schemeClr val="tx1"/>
                </a:solidFill>
              </a:rPr>
              <a:t>Try the POC</a:t>
            </a:r>
            <a:endParaRPr lang="en-US" sz="1700" dirty="0"/>
          </a:p>
        </p:txBody>
      </p:sp>
      <p:sp>
        <p:nvSpPr>
          <p:cNvPr id="33" name="Text 31"/>
          <p:cNvSpPr txBox="1"/>
          <p:nvPr/>
        </p:nvSpPr>
        <p:spPr>
          <a:xfrm>
            <a:off x="8321040" y="4754880"/>
            <a:ext cx="3017520" cy="777240"/>
          </a:xfrm>
          <a:prstGeom prst="rect">
            <a:avLst/>
          </a:prstGeom>
          <a:noFill/>
          <a:ln/>
        </p:spPr>
        <p:txBody>
          <a:bodyPr wrap="square" lIns="0" tIns="0" rIns="0" bIns="0" rtlCol="0" anchor="t"/>
          <a:lstStyle/>
          <a:p>
            <a:pPr marL="0" indent="0">
              <a:buNone/>
            </a:pPr>
            <a:r>
              <a:rPr lang="en-US" sz="1400" dirty="0">
                <a:solidFill>
                  <a:schemeClr val="tx2"/>
                </a:solidFill>
              </a:rPr>
              <a:t>Import the .knwf file I'll share and press Execute All</a:t>
            </a:r>
            <a:endParaRPr lang="en-US" sz="1400" dirty="0"/>
          </a:p>
        </p:txBody>
      </p:sp>
      <p:sp>
        <p:nvSpPr>
          <p:cNvPr id="34" name="Text 32"/>
          <p:cNvSpPr txBox="1"/>
          <p:nvPr/>
        </p:nvSpPr>
        <p:spPr>
          <a:xfrm>
            <a:off x="548640" y="5897880"/>
            <a:ext cx="11064240" cy="274320"/>
          </a:xfrm>
          <a:prstGeom prst="rect">
            <a:avLst/>
          </a:prstGeom>
          <a:noFill/>
          <a:ln/>
        </p:spPr>
        <p:txBody>
          <a:bodyPr wrap="square" lIns="0" tIns="0" rIns="0" bIns="0" rtlCol="0" anchor="t"/>
          <a:lstStyle/>
          <a:p>
            <a:pPr marL="0" indent="0">
              <a:buNone/>
            </a:pPr>
            <a:r>
              <a:rPr lang="en-US" sz="1100" dirty="0">
                <a:solidFill>
                  <a:schemeClr val="accent6"/>
                </a:solidFill>
              </a:rPr>
              <a:t>Source: docs.knime.com, Analytics Platform installation guide</a:t>
            </a:r>
            <a:endParaRPr lang="en-US" sz="1100" dirty="0"/>
          </a:p>
        </p:txBody>
      </p:sp>
      <p:sp>
        <p:nvSpPr>
          <p:cNvPr id="3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7D7D"/>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411480"/>
            <a:ext cx="9144000" cy="320040"/>
          </a:xfrm>
          <a:prstGeom prst="rect">
            <a:avLst/>
          </a:prstGeom>
          <a:noFill/>
          <a:ln/>
        </p:spPr>
        <p:txBody>
          <a:bodyPr wrap="square" lIns="0" tIns="0" rIns="0" bIns="0" rtlCol="0"/>
          <a:lstStyle/>
          <a:p>
            <a:pPr marL="0" indent="0" algn="l">
              <a:buNone/>
            </a:pPr>
            <a:r>
              <a:rPr lang="en-US" sz="1200" b="1" kern="0" spc="200" dirty="0">
                <a:solidFill>
                  <a:schemeClr val="accent2"/>
                </a:solidFill>
              </a:rPr>
              <a:t>04 · REQUIREMENTS</a:t>
            </a:r>
            <a:endParaRPr lang="en-US" sz="1200" dirty="0"/>
          </a:p>
        </p:txBody>
      </p:sp>
      <p:sp>
        <p:nvSpPr>
          <p:cNvPr id="3" name="Text 0"/>
          <p:cNvSpPr>
            <a:spLocks noGrp="1"/>
          </p:cNvSpPr>
          <p:nvPr>
            <p:ph type="title" idx="101" hasCustomPrompt="1"/>
          </p:nvPr>
        </p:nvSpPr>
        <p:spPr>
          <a:xfrm>
            <a:off x="548640" y="731520"/>
            <a:ext cx="11064240" cy="822960"/>
          </a:xfrm>
          <a:prstGeom prst="rect">
            <a:avLst/>
          </a:prstGeom>
          <a:noFill/>
          <a:ln/>
        </p:spPr>
        <p:txBody>
          <a:bodyPr wrap="square" lIns="0" tIns="0" rIns="0" bIns="0" rtlCol="0" anchor="t"/>
          <a:lstStyle/>
          <a:p>
            <a:pPr marL="0" indent="0" algn="l">
              <a:buNone/>
            </a:pPr>
            <a:r>
              <a:rPr lang="en-US" sz="3000" b="1" dirty="0">
                <a:solidFill>
                  <a:schemeClr val="tx1"/>
                </a:solidFill>
                <a:latin typeface="Georgia" pitchFamily="34" charset="0"/>
                <a:ea typeface="Georgia" pitchFamily="34" charset="-122"/>
                <a:cs typeface="Georgia" pitchFamily="34" charset="-120"/>
              </a:rPr>
              <a:t>What your machine needs</a:t>
            </a:r>
            <a:endParaRPr lang="en-US" sz="3000" dirty="0"/>
          </a:p>
        </p:txBody>
      </p:sp>
      <p:graphicFrame>
        <p:nvGraphicFramePr>
          <p:cNvPr id="20" name="table"/>
          <p:cNvGraphicFramePr>
            <a:graphicFrameLocks noGrp="1"/>
          </p:cNvGraphicFramePr>
          <p:nvPr>
            <p:extLst>
              <p:ext uri="{D42A27DB-BD31-4B8C-83A1-F6EECF244321}">
                <p14:modId xmlns:p14="http://schemas.microsoft.com/office/powerpoint/2010/main" val="1579011935"/>
              </p:ext>
            </p:extLst>
          </p:nvPr>
        </p:nvGraphicFramePr>
        <p:xfrm>
          <a:off x="548640" y="1783080"/>
          <a:ext cx="11064240" cy="914400"/>
        </p:xfrm>
        <a:graphic>
          <a:graphicData uri="http://schemas.openxmlformats.org/drawingml/2006/table">
            <a:tbl>
              <a:tblPr/>
              <a:tblGrid>
                <a:gridCol w="2926080">
                  <a:extLst>
                    <a:ext uri="{9D8B030D-6E8A-4147-A177-3AD203B41FA5}">
                      <a16:colId xmlns:a16="http://schemas.microsoft.com/office/drawing/2014/main" val="20000"/>
                    </a:ext>
                  </a:extLst>
                </a:gridCol>
                <a:gridCol w="8138160">
                  <a:extLst>
                    <a:ext uri="{9D8B030D-6E8A-4147-A177-3AD203B41FA5}">
                      <a16:colId xmlns:a16="http://schemas.microsoft.com/office/drawing/2014/main" val="20001"/>
                    </a:ext>
                  </a:extLst>
                </a:gridCol>
              </a:tblGrid>
              <a:tr h="548640">
                <a:tc>
                  <a:txBody>
                    <a:bodyPr/>
                    <a:lstStyle/>
                    <a:p>
                      <a:pPr marL="0" indent="0">
                        <a:buNone/>
                      </a:pPr>
                      <a:r>
                        <a:rPr lang="en-US" sz="1400" b="1" dirty="0">
                          <a:solidFill>
                            <a:schemeClr val="bg1"/>
                          </a:solidFill>
                          <a:latin typeface="Arial" pitchFamily="34" charset="0"/>
                          <a:ea typeface="Arial" pitchFamily="34" charset="-122"/>
                          <a:cs typeface="Arial" pitchFamily="34" charset="-120"/>
                        </a:rPr>
                        <a:t>Item</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tc>
                  <a:txBody>
                    <a:bodyPr/>
                    <a:lstStyle/>
                    <a:p>
                      <a:pPr marL="0" indent="0">
                        <a:buNone/>
                      </a:pPr>
                      <a:r>
                        <a:rPr lang="en-US" sz="1400" b="1" dirty="0">
                          <a:solidFill>
                            <a:schemeClr val="bg1"/>
                          </a:solidFill>
                          <a:latin typeface="Arial" pitchFamily="34" charset="0"/>
                          <a:ea typeface="Arial" pitchFamily="34" charset="-122"/>
                          <a:cs typeface="Arial" pitchFamily="34" charset="-120"/>
                        </a:rPr>
                        <a:t>Requirement</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tx1"/>
                    </a:solidFill>
                  </a:tcPr>
                </a:tc>
                <a:extLst>
                  <a:ext uri="{0D108BD9-81ED-4DB2-BD59-A6C34878D82A}">
                    <a16:rowId xmlns:a16="http://schemas.microsoft.com/office/drawing/2014/main" val="10000"/>
                  </a:ext>
                </a:extLst>
              </a:tr>
              <a:tr h="548640">
                <a:tc>
                  <a:txBody>
                    <a:bodyPr/>
                    <a:lstStyle/>
                    <a:p>
                      <a:pPr marL="0" indent="0">
                        <a:buNone/>
                      </a:pPr>
                      <a:r>
                        <a:rPr lang="en-US" sz="1400" dirty="0">
                          <a:solidFill>
                            <a:schemeClr val="tx1"/>
                          </a:solidFill>
                          <a:latin typeface="Arial" pitchFamily="34" charset="0"/>
                          <a:ea typeface="Arial" pitchFamily="34" charset="-122"/>
                          <a:cs typeface="Arial" pitchFamily="34" charset="-120"/>
                        </a:rPr>
                        <a:t>Operating system</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Windows 10 / 11 (also macOS 14–15, Ubuntu, RHEL)</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548640">
                <a:tc>
                  <a:txBody>
                    <a:bodyPr/>
                    <a:lstStyle/>
                    <a:p>
                      <a:pPr marL="0" indent="0">
                        <a:buNone/>
                      </a:pPr>
                      <a:r>
                        <a:rPr lang="en-US" sz="1400" dirty="0">
                          <a:solidFill>
                            <a:schemeClr val="tx1"/>
                          </a:solidFill>
                          <a:latin typeface="Arial" pitchFamily="34" charset="0"/>
                          <a:ea typeface="Arial" pitchFamily="34" charset="-122"/>
                          <a:cs typeface="Arial" pitchFamily="34" charset="-120"/>
                        </a:rPr>
                        <a:t>Memory (RAM)</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16 GB recommended for large files; 8 GB fine for small ones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548640">
                <a:tc>
                  <a:txBody>
                    <a:bodyPr/>
                    <a:lstStyle/>
                    <a:p>
                      <a:pPr marL="0" indent="0">
                        <a:buNone/>
                      </a:pPr>
                      <a:r>
                        <a:rPr lang="en-US" sz="1400" dirty="0">
                          <a:solidFill>
                            <a:schemeClr val="tx1"/>
                          </a:solidFill>
                          <a:latin typeface="Arial" pitchFamily="34" charset="0"/>
                          <a:ea typeface="Arial" pitchFamily="34" charset="-122"/>
                          <a:cs typeface="Arial" pitchFamily="34" charset="-120"/>
                        </a:rPr>
                        <a:t>Admin rights</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Not needed with the zip version</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548640">
                <a:tc>
                  <a:txBody>
                    <a:bodyPr/>
                    <a:lstStyle/>
                    <a:p>
                      <a:pPr marL="0" indent="0">
                        <a:buNone/>
                      </a:pPr>
                      <a:r>
                        <a:rPr lang="en-US" sz="1400" dirty="0">
                          <a:solidFill>
                            <a:schemeClr val="tx1"/>
                          </a:solidFill>
                          <a:latin typeface="Arial" pitchFamily="34" charset="0"/>
                          <a:ea typeface="Arial" pitchFamily="34" charset="-122"/>
                          <a:cs typeface="Arial" pitchFamily="34" charset="-120"/>
                        </a:rPr>
                        <a:t>Network</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Access to KNIME's update site for extensions, or an offline zip from IT</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r h="548640">
                <a:tc>
                  <a:txBody>
                    <a:bodyPr/>
                    <a:lstStyle/>
                    <a:p>
                      <a:pPr marL="0" indent="0">
                        <a:buNone/>
                      </a:pPr>
                      <a:r>
                        <a:rPr lang="en-US" sz="1400" dirty="0">
                          <a:solidFill>
                            <a:schemeClr val="tx1"/>
                          </a:solidFill>
                          <a:latin typeface="Arial" pitchFamily="34" charset="0"/>
                          <a:ea typeface="Arial" pitchFamily="34" charset="-122"/>
                          <a:cs typeface="Arial" pitchFamily="34" charset="-120"/>
                        </a:rPr>
                        <a:t>Version</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latin typeface="Arial" pitchFamily="34" charset="0"/>
                          <a:ea typeface="Arial" pitchFamily="34" charset="-122"/>
                          <a:cs typeface="Arial" pitchFamily="34" charset="-120"/>
                        </a:rPr>
                        <a:t>Latest is 5.12 (July 2026). Corporate installs usually use the long-term support (LTS) release</a:t>
                      </a:r>
                      <a:endParaRPr lang="en-US" sz="1400" dirty="0">
                        <a:latin typeface="Arial" charset="0"/>
                        <a:ea typeface="Arial" charset="0"/>
                        <a:cs typeface="Arial" charset="0"/>
                      </a:endParaRPr>
                    </a:p>
                  </a:txBody>
                  <a:tcPr marL="109728" marR="109728" marT="73152" marB="73152"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chemeClr val="bg1"/>
                    </a:solidFill>
                  </a:tcPr>
                </a:tc>
                <a:extLst>
                  <a:ext uri="{0D108BD9-81ED-4DB2-BD59-A6C34878D82A}">
                    <a16:rowId xmlns:a16="http://schemas.microsoft.com/office/drawing/2014/main" val="10005"/>
                  </a:ext>
                </a:extLst>
              </a:tr>
            </a:tbl>
          </a:graphicData>
        </a:graphic>
      </p:graphicFrame>
      <p:sp>
        <p:nvSpPr>
          <p:cNvPr id="5" name="Text 2"/>
          <p:cNvSpPr txBox="1"/>
          <p:nvPr/>
        </p:nvSpPr>
        <p:spPr>
          <a:xfrm>
            <a:off x="548640" y="5440680"/>
            <a:ext cx="11064240" cy="457200"/>
          </a:xfrm>
          <a:prstGeom prst="rect">
            <a:avLst/>
          </a:prstGeom>
          <a:noFill/>
          <a:ln/>
        </p:spPr>
        <p:txBody>
          <a:bodyPr wrap="square" lIns="0" tIns="0" rIns="0" bIns="0" rtlCol="0" anchor="t"/>
          <a:lstStyle/>
          <a:p>
            <a:pPr marL="0" indent="0">
              <a:buNone/>
            </a:pPr>
            <a:r>
              <a:rPr lang="en-US" sz="1200" dirty="0">
                <a:solidFill>
                  <a:schemeClr val="accent6"/>
                </a:solidFill>
              </a:rPr>
              <a:t>Check knime.com/downloads for the current LTS version before rolling out. RAM figures are guidance, not an official minimum.</a:t>
            </a:r>
            <a:endParaRPr lang="en-US" sz="12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7D7D7D"/>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640080"/>
            <a:ext cx="11064240" cy="914400"/>
          </a:xfrm>
          <a:prstGeom prst="rect">
            <a:avLst/>
          </a:prstGeom>
          <a:noFill/>
          <a:ln/>
        </p:spPr>
        <p:txBody>
          <a:bodyPr wrap="square" lIns="0" tIns="0" rIns="0" bIns="0" rtlCol="0" anchor="t"/>
          <a:lstStyle/>
          <a:p>
            <a:pPr marL="0" indent="0" algn="l">
              <a:buNone/>
            </a:pPr>
            <a:r>
              <a:rPr lang="en-US" sz="3600" b="1" dirty="0">
                <a:solidFill>
                  <a:schemeClr val="bg1"/>
                </a:solidFill>
                <a:latin typeface="Georgia" pitchFamily="34" charset="0"/>
                <a:ea typeface="Georgia" pitchFamily="34" charset="-122"/>
                <a:cs typeface="Georgia" pitchFamily="34" charset="-120"/>
              </a:rPr>
              <a:t>Next steps</a:t>
            </a:r>
            <a:endParaRPr lang="en-US" sz="3600" dirty="0"/>
          </a:p>
        </p:txBody>
      </p:sp>
      <p:sp>
        <p:nvSpPr>
          <p:cNvPr id="3" name="next 1"/>
          <p:cNvSpPr/>
          <p:nvPr/>
        </p:nvSpPr>
        <p:spPr>
          <a:xfrm>
            <a:off x="548640" y="1920240"/>
            <a:ext cx="3520440" cy="2103120"/>
          </a:xfrm>
          <a:prstGeom prst="rect">
            <a:avLst/>
          </a:prstGeom>
          <a:solidFill>
            <a:srgbClr val="3D3D3D"/>
          </a:solidFill>
          <a:ln/>
        </p:spPr>
      </p:sp>
      <p:sp>
        <p:nvSpPr>
          <p:cNvPr id="4" name="Text 2"/>
          <p:cNvSpPr txBox="1"/>
          <p:nvPr/>
        </p:nvSpPr>
        <p:spPr>
          <a:xfrm>
            <a:off x="868680" y="2194560"/>
            <a:ext cx="2926080" cy="320040"/>
          </a:xfrm>
          <a:prstGeom prst="rect">
            <a:avLst/>
          </a:prstGeom>
          <a:noFill/>
          <a:ln/>
        </p:spPr>
        <p:txBody>
          <a:bodyPr wrap="square" lIns="0" tIns="0" rIns="0" bIns="0" rtlCol="0" anchor="t"/>
          <a:lstStyle/>
          <a:p>
            <a:pPr marL="0" indent="0">
              <a:buNone/>
            </a:pPr>
            <a:r>
              <a:rPr lang="en-US" sz="1200" b="1" kern="0" spc="200" dirty="0">
                <a:solidFill>
                  <a:schemeClr val="accent1"/>
                </a:solidFill>
              </a:rPr>
              <a:t>THIS WEEK</a:t>
            </a:r>
            <a:endParaRPr lang="en-US" sz="1200" dirty="0"/>
          </a:p>
        </p:txBody>
      </p:sp>
      <p:sp>
        <p:nvSpPr>
          <p:cNvPr id="5" name="Text 3"/>
          <p:cNvSpPr txBox="1"/>
          <p:nvPr/>
        </p:nvSpPr>
        <p:spPr>
          <a:xfrm>
            <a:off x="868680" y="2651760"/>
            <a:ext cx="2926080" cy="1188720"/>
          </a:xfrm>
          <a:prstGeom prst="rect">
            <a:avLst/>
          </a:prstGeom>
          <a:noFill/>
          <a:ln/>
        </p:spPr>
        <p:txBody>
          <a:bodyPr wrap="square" lIns="0" tIns="0" rIns="0" bIns="0" rtlCol="0" anchor="t"/>
          <a:lstStyle/>
          <a:p>
            <a:pPr marL="0" indent="0">
              <a:buNone/>
            </a:pPr>
            <a:r>
              <a:rPr lang="en-US" sz="1800" dirty="0">
                <a:solidFill>
                  <a:schemeClr val="bg1"/>
                </a:solidFill>
              </a:rPr>
              <a:t>Install KNIME and run the POC workflow</a:t>
            </a:r>
            <a:endParaRPr lang="en-US" sz="1800" dirty="0"/>
          </a:p>
        </p:txBody>
      </p:sp>
      <p:sp>
        <p:nvSpPr>
          <p:cNvPr id="6" name="next 2"/>
          <p:cNvSpPr/>
          <p:nvPr/>
        </p:nvSpPr>
        <p:spPr>
          <a:xfrm>
            <a:off x="4297680" y="1920240"/>
            <a:ext cx="3520440" cy="2103120"/>
          </a:xfrm>
          <a:prstGeom prst="rect">
            <a:avLst/>
          </a:prstGeom>
          <a:solidFill>
            <a:srgbClr val="3D3D3D"/>
          </a:solidFill>
          <a:ln/>
        </p:spPr>
      </p:sp>
      <p:sp>
        <p:nvSpPr>
          <p:cNvPr id="7" name="Text 5"/>
          <p:cNvSpPr txBox="1"/>
          <p:nvPr/>
        </p:nvSpPr>
        <p:spPr>
          <a:xfrm>
            <a:off x="4617720" y="2194560"/>
            <a:ext cx="2926080" cy="320040"/>
          </a:xfrm>
          <a:prstGeom prst="rect">
            <a:avLst/>
          </a:prstGeom>
          <a:noFill/>
          <a:ln/>
        </p:spPr>
        <p:txBody>
          <a:bodyPr wrap="square" lIns="0" tIns="0" rIns="0" bIns="0" rtlCol="0" anchor="t"/>
          <a:lstStyle/>
          <a:p>
            <a:pPr marL="0" indent="0">
              <a:buNone/>
            </a:pPr>
            <a:r>
              <a:rPr lang="en-US" sz="1200" b="1" kern="0" spc="200" dirty="0">
                <a:solidFill>
                  <a:schemeClr val="accent1"/>
                </a:solidFill>
              </a:rPr>
              <a:t>NEXT 2 WEEKS</a:t>
            </a:r>
            <a:endParaRPr lang="en-US" sz="1200" dirty="0"/>
          </a:p>
        </p:txBody>
      </p:sp>
      <p:sp>
        <p:nvSpPr>
          <p:cNvPr id="8" name="Text 6"/>
          <p:cNvSpPr txBox="1"/>
          <p:nvPr/>
        </p:nvSpPr>
        <p:spPr>
          <a:xfrm>
            <a:off x="4617720" y="2651760"/>
            <a:ext cx="2926080" cy="1188720"/>
          </a:xfrm>
          <a:prstGeom prst="rect">
            <a:avLst/>
          </a:prstGeom>
          <a:noFill/>
          <a:ln/>
        </p:spPr>
        <p:txBody>
          <a:bodyPr wrap="square" lIns="0" tIns="0" rIns="0" bIns="0" rtlCol="0" anchor="t"/>
          <a:lstStyle/>
          <a:p>
            <a:pPr marL="0" indent="0">
              <a:buNone/>
            </a:pPr>
            <a:r>
              <a:rPr lang="en-US" sz="1800" dirty="0">
                <a:solidFill>
                  <a:schemeClr val="bg1"/>
                </a:solidFill>
              </a:rPr>
              <a:t>Pick one real Tax process to pilot, e.g. GSTR-2B matching</a:t>
            </a:r>
            <a:endParaRPr lang="en-US" sz="1800" dirty="0"/>
          </a:p>
        </p:txBody>
      </p:sp>
      <p:sp>
        <p:nvSpPr>
          <p:cNvPr id="9" name="next 3"/>
          <p:cNvSpPr/>
          <p:nvPr/>
        </p:nvSpPr>
        <p:spPr>
          <a:xfrm>
            <a:off x="8046720" y="1920240"/>
            <a:ext cx="3520440" cy="2103120"/>
          </a:xfrm>
          <a:prstGeom prst="rect">
            <a:avLst/>
          </a:prstGeom>
          <a:solidFill>
            <a:srgbClr val="3D3D3D"/>
          </a:solidFill>
          <a:ln/>
        </p:spPr>
      </p:sp>
      <p:sp>
        <p:nvSpPr>
          <p:cNvPr id="10" name="Text 8"/>
          <p:cNvSpPr txBox="1"/>
          <p:nvPr/>
        </p:nvSpPr>
        <p:spPr>
          <a:xfrm>
            <a:off x="8366760" y="2194560"/>
            <a:ext cx="2926080" cy="320040"/>
          </a:xfrm>
          <a:prstGeom prst="rect">
            <a:avLst/>
          </a:prstGeom>
          <a:noFill/>
          <a:ln/>
        </p:spPr>
        <p:txBody>
          <a:bodyPr wrap="square" lIns="0" tIns="0" rIns="0" bIns="0" rtlCol="0" anchor="t"/>
          <a:lstStyle/>
          <a:p>
            <a:pPr marL="0" indent="0">
              <a:buNone/>
            </a:pPr>
            <a:r>
              <a:rPr lang="en-US" sz="1200" b="1" kern="0" spc="200" dirty="0">
                <a:solidFill>
                  <a:schemeClr val="accent1"/>
                </a:solidFill>
              </a:rPr>
              <a:t>THEN</a:t>
            </a:r>
            <a:endParaRPr lang="en-US" sz="1200" dirty="0"/>
          </a:p>
        </p:txBody>
      </p:sp>
      <p:sp>
        <p:nvSpPr>
          <p:cNvPr id="11" name="Text 9"/>
          <p:cNvSpPr txBox="1"/>
          <p:nvPr/>
        </p:nvSpPr>
        <p:spPr>
          <a:xfrm>
            <a:off x="8366760" y="2651760"/>
            <a:ext cx="2926080" cy="1188720"/>
          </a:xfrm>
          <a:prstGeom prst="rect">
            <a:avLst/>
          </a:prstGeom>
          <a:noFill/>
          <a:ln/>
        </p:spPr>
        <p:txBody>
          <a:bodyPr wrap="square" lIns="0" tIns="0" rIns="0" bIns="0" rtlCol="0" anchor="t"/>
          <a:lstStyle/>
          <a:p>
            <a:pPr marL="0" indent="0">
              <a:buNone/>
            </a:pPr>
            <a:r>
              <a:rPr lang="en-US" sz="1800" dirty="0">
                <a:solidFill>
                  <a:schemeClr val="bg1"/>
                </a:solidFill>
              </a:rPr>
              <a:t>Compare time saved and decide on KNIME vs Alteryx</a:t>
            </a:r>
            <a:endParaRPr lang="en-US" sz="1800" dirty="0"/>
          </a:p>
        </p:txBody>
      </p:sp>
      <p:sp>
        <p:nvSpPr>
          <p:cNvPr id="12" name="Text 10"/>
          <p:cNvSpPr txBox="1"/>
          <p:nvPr/>
        </p:nvSpPr>
        <p:spPr>
          <a:xfrm>
            <a:off x="548640" y="4572000"/>
            <a:ext cx="7315200" cy="822960"/>
          </a:xfrm>
          <a:prstGeom prst="rect">
            <a:avLst/>
          </a:prstGeom>
          <a:noFill/>
          <a:ln/>
        </p:spPr>
        <p:txBody>
          <a:bodyPr wrap="square" lIns="0" tIns="0" rIns="0" bIns="0" rtlCol="0" anchor="t"/>
          <a:lstStyle/>
          <a:p>
            <a:pPr marL="0" indent="0">
              <a:buNone/>
            </a:pPr>
            <a:r>
              <a:rPr lang="en-US" sz="3600" b="1" dirty="0">
                <a:solidFill>
                  <a:schemeClr val="accent1"/>
                </a:solidFill>
                <a:latin typeface="Georgia" pitchFamily="34" charset="0"/>
                <a:ea typeface="Georgia" pitchFamily="34" charset="-122"/>
                <a:cs typeface="Georgia" pitchFamily="34" charset="-120"/>
              </a:rPr>
              <a:t>Questions?</a:t>
            </a:r>
            <a:endParaRPr lang="en-US" sz="3600" dirty="0"/>
          </a:p>
        </p:txBody>
      </p:sp>
      <p:sp>
        <p:nvSpPr>
          <p:cNvPr id="25" name="Slide Number Placeholder 0"/>
          <p:cNvSpPr>
            <a:spLocks noGrp="1"/>
          </p:cNvSpPr>
          <p:nvPr>
            <p:ph type="sldNum" sz="quarter" idx="4294967295"/>
          </p:nvPr>
        </p:nvSpPr>
        <p:spPr>
          <a:xfrm>
            <a:off x="11155680" y="635508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BFBFBF"/>
                </a:solidFill>
              </a:defRPr>
            </a:lvl1pPr>
          </a:lstStyle>
          <a:p>
            <a:pPr algn="r"/>
            <a:fld id="{F7021451-1387-4CA6-816F-3879F97B5CBC}" type="slidenum">
              <a:rPr lang="en-US" b="0"/>
              <a:t>20</a:t>
            </a:fld>
            <a:endParaRPr lang="en-US"/>
          </a:p>
        </p:txBody>
      </p:sp>
    </p:spTree>
  </p:cSld>
  <p:clrMapOvr>
    <a:masterClrMapping/>
  </p:clrMapOvr>
</p:sld>
</file>

<file path=ppt/theme/theme1.xml><?xml version="1.0" encoding="utf-8"?>
<a:theme xmlns:a="http://schemas.openxmlformats.org/drawingml/2006/main" name="Tax Demo Orange">
  <a:themeElements>
    <a:clrScheme name="Tax Demo Orange">
      <a:dk1>
        <a:srgbClr val="2D2D2D"/>
      </a:dk1>
      <a:lt1>
        <a:srgbClr val="FFFFFF"/>
      </a:lt1>
      <a:dk2>
        <a:srgbClr val="464646"/>
      </a:dk2>
      <a:lt2>
        <a:srgbClr val="F3F3F3"/>
      </a:lt2>
      <a:accent1>
        <a:srgbClr val="FD5108"/>
      </a:accent1>
      <a:accent2>
        <a:srgbClr val="E0301E"/>
      </a:accent2>
      <a:accent3>
        <a:srgbClr val="EB8C00"/>
      </a:accent3>
      <a:accent4>
        <a:srgbClr val="FFB600"/>
      </a:accent4>
      <a:accent5>
        <a:srgbClr val="DB536A"/>
      </a:accent5>
      <a:accent6>
        <a:srgbClr val="7D7D7D"/>
      </a:accent6>
      <a:hlink>
        <a:srgbClr val="E0301E"/>
      </a:hlink>
      <a:folHlink>
        <a:srgbClr val="7D7D7D"/>
      </a:folHlink>
    </a:clrScheme>
    <a:fontScheme name="Tax Demo Orang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TotalTime>
  <Words>3205</Words>
  <Application>Microsoft Office PowerPoint</Application>
  <PresentationFormat>Widescreen</PresentationFormat>
  <Paragraphs>295</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Georgia</vt:lpstr>
      <vt:lpstr>Tax Demo Orange</vt:lpstr>
      <vt:lpstr>KNIME Analytics Platform</vt:lpstr>
      <vt:lpstr>Agenda</vt:lpstr>
      <vt:lpstr>Features, capabilities and limitations</vt:lpstr>
      <vt:lpstr>KNIME turns repetitive data work into a visual, reusable workflow</vt:lpstr>
      <vt:lpstr>Core capabilities</vt:lpstr>
      <vt:lpstr>Where it could help the Tax team</vt:lpstr>
      <vt:lpstr>What you'll notice when you use it</vt:lpstr>
      <vt:lpstr>Open source and licensing options</vt:lpstr>
      <vt:lpstr>Desktop KNIME is free, not a trial version</vt:lpstr>
      <vt:lpstr>Licensing options</vt:lpstr>
      <vt:lpstr>Which option fits us</vt:lpstr>
      <vt:lpstr>Demo of the POC</vt:lpstr>
      <vt:lpstr>A 20-node data-prep and reconciliation workflow</vt:lpstr>
      <vt:lpstr>Real-world data problems the workflow handles</vt:lpstr>
      <vt:lpstr>Results tie out to an independent calculation</vt:lpstr>
      <vt:lpstr>Live demo</vt:lpstr>
      <vt:lpstr>How to set up KNIME on your machine</vt:lpstr>
      <vt:lpstr>Six steps to get KNIME running</vt:lpstr>
      <vt:lpstr>What your machine needs</vt:lpstr>
      <vt:lpstr>Next steps</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KNIME Analytics Platform - Tax team demo</dc:title>
  <dc:subject>PptxGenJS Presentation</dc:subject>
  <dc:creator>Arjun</dc:creator>
  <cp:lastModifiedBy>HP</cp:lastModifiedBy>
  <cp:revision>4</cp:revision>
  <dcterms:created xsi:type="dcterms:W3CDTF">2026-10-20T21:35:52Z</dcterms:created>
  <dcterms:modified xsi:type="dcterms:W3CDTF">2026-10-20T21:39:31Z</dcterms:modified>
</cp:coreProperties>
</file>